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과제명</a:t>
            </a:r>
            <a:r>
              <a:rPr lang="ko-KR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300" b="1" dirty="0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Wiki Manager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ko-KR" altLang="en-US" sz="13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김종열 </a:t>
            </a:r>
            <a:r>
              <a:rPr lang="en-US" sz="13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[07131]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ko-KR" altLang="en-US" sz="13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손찬영</a:t>
            </a:r>
            <a:r>
              <a:rPr lang="en-US" altLang="ko-KR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윤기영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· 분산된 산출물</a:t>
            </a:r>
            <a:endParaRPr lang="en-US" sz="900" dirty="0"/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요구사항·설계·구현·테스트가 다른 위치에 흩어져 단일 출처(SSOT)가 부재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중복·모순의 누적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v1/v2 후속 문서가 통합되지 않아 페이지 간 정합성이 무너짐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수동 정리의 한계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문서 1건당 약 30분 소요, 인원 교체 시 맥락·근거가 함께 단절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검색·재사용 저하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필요 정보 탐색이 어렵고 의사결정 근거 추적이 곤란</a:t>
            </a:r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· 멀티 에이전트 자동 적재</a:t>
            </a:r>
            <a:endParaRPr lang="en-US" sz="900" dirty="0"/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LangGraph 기반 13 노드 파이프라인 (LLM 8 / 일반 5)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수집 → 정규화 → 도메인분해 → 임베딩 → 유사도 → 충돌판정 → 병합 → 누락검토(피드백) → 상호참조 → 인덱싱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LLM 자동 병합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벡터 + LLM 2단계 동일성 판정으로 중복·충돌 자동 해소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하이브리드 검색 + 질의응답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BM25 + 벡터 RRF 융합 검색, 근거 인용 기반 LLM 답변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지식 그래프 자동 갱신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9종 엣지 + 상·중·하 신뢰도로 페이지 간 의미 관계 자동 유지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기술 스택  ·  LangGraph · Azure OpenAI · Chroma · FastAPI + SSE · React Flow</a:t>
            </a:r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>
                <a:solidFill>
                  <a:srgbClr val="1A365D"/>
                </a:solidFill>
                <a:latin typeface="Arial"/>
              </a:rPr>
              <a:t>~30초/건</a:t>
            </a:r>
            <a:endParaRPr lang="en-US" dirty="0"/>
          </a:p>
          <a:p>
            <a:pPr algn="ctr"/>
            <a:r>
              <a:rPr b="1">
                <a:solidFill>
                  <a:srgbClr val="1A365D"/>
                </a:solidFill>
                <a:latin typeface="Arial"/>
              </a:rPr>
              <a:t>자동 13단계 (수동 ~30분 대비 60배)</a:t>
            </a:r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>
                <a:solidFill>
                  <a:srgbClr val="1A365D"/>
                </a:solidFill>
                <a:latin typeface="Arial"/>
              </a:rPr>
              <a:t>커버리지 100%</a:t>
            </a:r>
            <a:endParaRPr lang="en-US" dirty="0"/>
          </a:p>
          <a:p>
            <a:pPr algn="ctr"/>
            <a:r>
              <a:rPr b="1">
                <a:solidFill>
                  <a:srgbClr val="1A365D"/>
                </a:solidFill>
                <a:latin typeface="Arial"/>
              </a:rPr>
              <a:t>병합 누락 0건 · verify ↺ merge 재시도</a:t>
            </a:r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>
                <a:solidFill>
                  <a:srgbClr val="1A365D"/>
                </a:solidFill>
                <a:latin typeface="Arial"/>
              </a:rPr>
              <a:t>100% 자동화</a:t>
            </a:r>
            <a:endParaRPr lang="en-US" dirty="0"/>
          </a:p>
          <a:p>
            <a:pPr algn="ctr"/>
            <a:r>
              <a:rPr b="1">
                <a:solidFill>
                  <a:srgbClr val="1A365D"/>
                </a:solidFill>
                <a:latin typeface="Arial"/>
              </a:rPr>
              <a:t>분류 → 병합 → 검증 → 연결까지 사람 개입 0건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i="1">
                <a:solidFill>
                  <a:srgbClr val="FFFFFF"/>
                </a:solidFill>
                <a:latin typeface="Arial"/>
              </a:rPr>
              <a:t>LLM 멀티 에이전트로 흩어진 SDLC 산출물을 자동 분류·병합·연결합니다.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A365D"/>
                </a:solidFill>
                <a:latin typeface="Arial"/>
              </a:rPr>
              <a:t>LangGraph + per-run SSE 이벤트 버스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50" b="1">
                <a:solidFill>
                  <a:srgbClr val="333333"/>
                </a:solidFill>
                <a:latin typeface="Arial"/>
              </a:rPr>
              <a:t>선택 이유</a:t>
            </a:r>
            <a:endParaRPr lang="en-US" sz="850" dirty="0"/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조건부 엣지로 verify ↺ merge 피드백과 decompose 분기를 한 그래프에 그릴 수 있어 ReAct/Chain 한계 극복.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핵심 활용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per-run SSE → React Flow 실시간 점등. 디버깅·시연 동시.</a:t>
            </a:r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A365D"/>
                </a:solidFill>
                <a:latin typeface="Arial"/>
              </a:rPr>
              <a:t>RAG + Chroma + 하이브리드 검색 (BM25 + 벡터 RRF)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50" b="1">
                <a:solidFill>
                  <a:srgbClr val="333333"/>
                </a:solidFill>
                <a:latin typeface="Arial"/>
              </a:rPr>
              <a:t>선택 이유</a:t>
            </a:r>
            <a:endParaRPr lang="en-US" sz="850" dirty="0"/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Fine-tuning 없이 본문을 그대로 근거로 활용. Chroma 임베딩과 BM25를 RRF로 융합해 키워드·의미 동시 검색.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핵심 성과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벡터 + LLM judge 2단계 판정 → false-positive 0건, 커버리지 100%.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A365D"/>
                </a:solidFill>
                <a:latin typeface="Arial"/>
              </a:rPr>
              <a:t>지식 그래프 자동 구축 (9종 엣지 + 신뢰도)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50" b="1">
                <a:solidFill>
                  <a:srgbClr val="333333"/>
                </a:solidFill>
                <a:latin typeface="Arial"/>
              </a:rPr>
              <a:t>선택 이유</a:t>
            </a:r>
            <a:endParaRPr lang="en-US" sz="850" dirty="0"/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wikilink 단독으로는 페이지 관계의 의미가 표현되지 않음. 9종 엣지 타입 + 상·중·하 신뢰도로 관계를 구조화.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구현 포인트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crossref Agent가 LLM 단일 호출로 관계 타입·신뢰도·근거를 동시 산출. 5단 evidence (요약·사유·인용·공유 개념·함께 볼 때)를 본문 표와 그래프에 동시 반영.</a:t>
            </a:r>
          </a:p>
        </p:txBody>
      </p:sp>
      <p:pic>
        <p:nvPicPr>
          <p:cNvPr id="30" name="Picture 29" descr="arch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03" y="1888236"/>
            <a:ext cx="3683578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rial"/>
              </a:rPr>
              <a:t>단순 RAG·ReAct 만으로는 SDLC 산출물의 중복·모순을 해소할 수 없음.</a:t>
            </a:r>
            <a:endParaRPr lang="en-US" sz="1000" dirty="0"/>
          </a:p>
          <a:p>
            <a:r>
              <a:rPr sz="1000">
                <a:solidFill>
                  <a:srgbClr val="FFFFFF"/>
                </a:solidFill>
                <a:latin typeface="Arial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· 같은 주제 v1/v2 → 중복 페이지 또는 병합 시 정보 누락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· 다도메인 문서 → 한 페이지 욱여넣기로 검색 흐려짐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· 벡터 유사도 단독 → false-positive 잘못된 합병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LangGraph StateGraph 13 노드 위에 다음 세 가지 핵심 구조를 설계</a:t>
            </a:r>
            <a:endParaRPr lang="en-US" sz="900" dirty="0"/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verify ↺ merge 피드백 루프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병합 직후 LLM이 양쪽 본문의 커버리지를 정량 계산하고, 부족 시 conditional edge로 merge 단계에 1회 자동 회귀.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단순 1-shot 병합 대비 누락률 0으로 수렴.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decompose 도메인 분해 분기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복합 도메인 문서를 LLM이 도메인 단위로 식별하고, child run 으로 split해 병렬 처리.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한 페이지 욱여넣기를 해소해 검색·재사용 정밀도 향상.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· 벡터 + LLM 2단계 동일성 판정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Chroma 거리 게이트로 후보를 추리고 LLM judge가 의미적 동일성을 재결정.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거리 단독 임계값의 false-positive 를 LLM이 보정해 잘못된 합병 0건.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/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부가  ·  충돌 정책 4종 (llm_merge / manual / prefer_incoming / prefer_existing)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         의미 엣지 9종 + 상·중·하 신뢰도로 그래프 저장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800" b="1">
                  <a:solidFill>
                    <a:srgbClr val="1A365D"/>
                  </a:solidFill>
                  <a:latin typeface="Arial"/>
                </a:rPr>
                <a:t>60배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850" b="1">
                  <a:solidFill>
                    <a:srgbClr val="1A365D"/>
                  </a:solidFill>
                  <a:latin typeface="Arial"/>
                </a:rPr>
                <a:t>처리 속도</a:t>
              </a:r>
              <a:endParaRPr lang="en-US" sz="850" dirty="0"/>
            </a:p>
            <a:p>
              <a:r>
                <a:rPr sz="850" b="1">
                  <a:solidFill>
                    <a:srgbClr val="1A365D"/>
                  </a:solidFill>
                  <a:latin typeface="Arial"/>
                </a:rPr>
                <a:t>수동 ~30분 → 자동 ~30초/건</a:t>
              </a:r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800" b="1">
                  <a:solidFill>
                    <a:srgbClr val="1A365D"/>
                  </a:solidFill>
                  <a:latin typeface="Arial"/>
                </a:rPr>
                <a:t>100%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850" b="1">
                  <a:solidFill>
                    <a:srgbClr val="1A365D"/>
                  </a:solidFill>
                  <a:latin typeface="Arial"/>
                </a:rPr>
                <a:t>병합 커버리지</a:t>
              </a:r>
              <a:endParaRPr lang="en-US" sz="850" dirty="0"/>
            </a:p>
            <a:p>
              <a:r>
                <a:rPr sz="850" b="1">
                  <a:solidFill>
                    <a:srgbClr val="1A365D"/>
                  </a:solidFill>
                  <a:latin typeface="Arial"/>
                </a:rPr>
                <a:t>verify ↺ merge 재시도</a:t>
              </a:r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800" b="1">
                  <a:solidFill>
                    <a:srgbClr val="1A365D"/>
                  </a:solidFill>
                  <a:latin typeface="Arial"/>
                </a:rPr>
                <a:t>0건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850" b="1">
                  <a:solidFill>
                    <a:srgbClr val="1A365D"/>
                  </a:solidFill>
                  <a:latin typeface="Arial"/>
                </a:rPr>
                <a:t>중복 false-positive</a:t>
              </a:r>
              <a:endParaRPr lang="en-US" sz="850" dirty="0"/>
            </a:p>
            <a:p>
              <a:r>
                <a:rPr sz="850" b="1">
                  <a:solidFill>
                    <a:srgbClr val="1A365D"/>
                  </a:solidFill>
                  <a:latin typeface="Arial"/>
                </a:rPr>
                <a:t>벡터 + LLM 2단계 판정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919</Words>
  <Application>Microsoft Office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Windows 사용자</cp:lastModifiedBy>
  <cp:revision>5</cp:revision>
  <dcterms:created xsi:type="dcterms:W3CDTF">2026-03-16T07:29:48Z</dcterms:created>
  <dcterms:modified xsi:type="dcterms:W3CDTF">2026-05-28T08:49:03Z</dcterms:modified>
</cp:coreProperties>
</file>