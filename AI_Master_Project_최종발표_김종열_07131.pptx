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946" y="33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8394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프로젝트 개요 (권장 2분)】
● 문제 정의 (30초)
  '왜 이 프로젝트를 했는가'를 비즈니스 임팩트와 함께 간결하게 설명하세요.
● 핵심 기능 (45초)
  Agent 구성 흐름과 핵심 기술 스택을 한눈에 보이도록 서술하세요.
● 핵심 성과 (30초)
  실제 측정된 수치로 채우세요. 추정치는 '~' 를 붙이세요.
● Key Message (15초)
  심사위원이 하나만 기억한다면 이 문장이어야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기술 아키텍처 (권장 4분)】
● 다이어그램 (2분)
  - 시스템 전체 흐름이 한눈에 보여야 합니다
  - 사용자 </a:t>
            </a:r>
            <a:r>
              <a:rPr lang="en-US"/>
              <a:t>입력 </a:t>
            </a:r>
            <a:r>
              <a:rPr lang="en-US" smtClean="0"/>
              <a:t>&gt; </a:t>
            </a:r>
            <a:r>
              <a:rPr lang="en-US"/>
              <a:t>처리 </a:t>
            </a:r>
            <a:r>
              <a:rPr lang="en-US" smtClean="0"/>
              <a:t>&gt; </a:t>
            </a:r>
            <a:r>
              <a:rPr lang="en-US" dirty="0"/>
              <a:t>결과 흐름을 화살표로 표시하세요
  - 컴포넌트 이름은 실제 기술명 사용 (예: LangGraph, Pinecone, GPT-4)
● 기술 선택 이유 (2분)
  - 심사위원은 LangGraph, LangChain을 '기본'으로 간주합니다
  - '기본입니다'가 아닌, 왜 이 기술이 필요했는지를 설명하세요
  - MCP, ToT, Self-Correction 등 고급 기술 사용 시 그 이유를 명확히 하세요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핵심 기술 과제 (권장 4분)】
● 핵심 기술 난제 (1분)
  - '왜 단순 구현으로 안 되는가'를 먼저 설명하세요
  - 심사위원은 단순 RAG / ReAct를 기본으로 봅니다. 그 한계를 명확히 제시하세요
● 엔지니어링 접근 (2분)
  - Agent의 '생각(로그)'이 고수준임을 증명해야 합니다
  - 시연 시 단순 Tool Call이 아닌 Planning / Self-Correction 로그를 보여주세요
  - 참고 논문 / 기술이 있다면 언급하면 고득점 포인트가 됩니다
● 결과 (1분)
  - 반드시 수치로 증명하세요
  - 직접 측정이 어려운 경우 '이전 대비' 상대 수치 사용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핵심 기술 과제 (권장 4분)】
● 핵심 기술 난제 (1분)
  - '왜 단순 구현으로 안 되는가'를 먼저 설명하세요
  - 심사위원은 단순 RAG / ReAct를 기본으로 봅니다. 그 한계를 명확히 제시하세요
● 엔지니어링 접근 (2분)
  - Agent의 '생각(로그)'이 고수준임을 증명해야 합니다
  - 시연 시 단순 Tool Call이 아닌 Planning / Self-Correction 로그를 보여주세요
  - 참고 논문 / 기술이 있다면 언급하면 고득점 포인트가 됩니다
● 결과 (1분)
  - 반드시 수치로 증명하세요
  - 직접 측정이 어려운 경우 '이전 대비' 상대 수치 사용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6133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10972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 Project 3기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371600" y="1645920"/>
            <a:ext cx="6400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발표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3931920" y="2633472"/>
            <a:ext cx="1280160" cy="5486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28529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 smtClean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과제명</a:t>
            </a:r>
            <a:r>
              <a:rPr lang="ko-KR" alt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ko-KR" sz="1300" b="1" dirty="0" smtClean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Wiki Manager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51760" y="323697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멘   티  </a:t>
            </a:r>
            <a:r>
              <a:rPr lang="ko-KR" altLang="en-US" sz="1300" dirty="0" smtClean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김종열 </a:t>
            </a:r>
            <a:r>
              <a:rPr lang="en-US" sz="1300" dirty="0" smtClean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[07131]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651760" y="362102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멘   토  </a:t>
            </a:r>
            <a:r>
              <a:rPr lang="ko-KR" altLang="en-US" sz="1300" dirty="0" err="1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손찬영</a:t>
            </a:r>
            <a:r>
              <a:rPr lang="en-US" altLang="ko-KR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ko-KR" altLang="en-US" sz="1300" dirty="0" err="1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윤기영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28800" y="4160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영상 10분 이내  |  시연 영상 별도 제출 5분 이내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2분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1810512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" y="667512"/>
            <a:ext cx="54864" cy="181051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" y="758952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문제 정의 (Vision / Problem)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74904" y="1051560"/>
            <a:ext cx="4416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 b="1" dirty="0">
                <a:solidFill>
                  <a:srgbClr val="333333"/>
                </a:solidFill>
                <a:latin typeface="Arial"/>
              </a:rPr>
              <a:t>·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분산된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산출물</a:t>
            </a:r>
            <a:endParaRPr lang="en-US" sz="800" dirty="0"/>
          </a:p>
          <a:p>
            <a:r>
              <a:rPr sz="800" b="1" dirty="0">
                <a:solidFill>
                  <a:srgbClr val="333333"/>
                </a:solidFill>
                <a:latin typeface="Arial"/>
              </a:rPr>
              <a:t>  </a:t>
            </a:r>
            <a:r>
              <a:rPr sz="800" dirty="0" err="1">
                <a:solidFill>
                  <a:srgbClr val="333333"/>
                </a:solidFill>
                <a:latin typeface="Arial"/>
              </a:rPr>
              <a:t>요구사항·설계·구현·테스트가</a:t>
            </a:r>
            <a:r>
              <a:rPr sz="800" dirty="0">
                <a:solidFill>
                  <a:srgbClr val="333333"/>
                </a:solidFill>
                <a:latin typeface="Arial"/>
              </a:rPr>
              <a:t> </a:t>
            </a:r>
            <a:r>
              <a:rPr sz="800" dirty="0" err="1">
                <a:solidFill>
                  <a:srgbClr val="333333"/>
                </a:solidFill>
                <a:latin typeface="Arial"/>
              </a:rPr>
              <a:t>다른</a:t>
            </a:r>
            <a:r>
              <a:rPr sz="800" dirty="0">
                <a:solidFill>
                  <a:srgbClr val="333333"/>
                </a:solidFill>
                <a:latin typeface="Arial"/>
              </a:rPr>
              <a:t> </a:t>
            </a:r>
            <a:r>
              <a:rPr sz="800" dirty="0" err="1">
                <a:solidFill>
                  <a:srgbClr val="333333"/>
                </a:solidFill>
                <a:latin typeface="Arial"/>
              </a:rPr>
              <a:t>위치에</a:t>
            </a:r>
            <a:r>
              <a:rPr sz="800" dirty="0">
                <a:solidFill>
                  <a:srgbClr val="333333"/>
                </a:solidFill>
                <a:latin typeface="Arial"/>
              </a:rPr>
              <a:t> </a:t>
            </a:r>
            <a:r>
              <a:rPr sz="800" dirty="0" err="1">
                <a:solidFill>
                  <a:srgbClr val="333333"/>
                </a:solidFill>
                <a:latin typeface="Arial"/>
              </a:rPr>
              <a:t>흩어져</a:t>
            </a:r>
            <a:r>
              <a:rPr sz="800" dirty="0">
                <a:solidFill>
                  <a:srgbClr val="333333"/>
                </a:solidFill>
                <a:latin typeface="Arial"/>
              </a:rPr>
              <a:t> </a:t>
            </a:r>
            <a:r>
              <a:rPr sz="800" dirty="0" err="1">
                <a:solidFill>
                  <a:srgbClr val="333333"/>
                </a:solidFill>
                <a:latin typeface="Arial"/>
              </a:rPr>
              <a:t>단일</a:t>
            </a:r>
            <a:r>
              <a:rPr sz="800" dirty="0">
                <a:solidFill>
                  <a:srgbClr val="333333"/>
                </a:solidFill>
                <a:latin typeface="Arial"/>
              </a:rPr>
              <a:t> </a:t>
            </a:r>
            <a:r>
              <a:rPr sz="800" dirty="0" err="1">
                <a:solidFill>
                  <a:srgbClr val="333333"/>
                </a:solidFill>
                <a:latin typeface="Arial"/>
              </a:rPr>
              <a:t>출처</a:t>
            </a:r>
            <a:r>
              <a:rPr sz="800" dirty="0">
                <a:solidFill>
                  <a:srgbClr val="333333"/>
                </a:solidFill>
                <a:latin typeface="Arial"/>
              </a:rPr>
              <a:t>(SSOT)가 </a:t>
            </a:r>
            <a:r>
              <a:rPr sz="800" dirty="0" err="1">
                <a:solidFill>
                  <a:srgbClr val="333333"/>
                </a:solidFill>
                <a:latin typeface="Arial"/>
              </a:rPr>
              <a:t>부재</a:t>
            </a:r>
            <a:endParaRPr sz="800" dirty="0">
              <a:solidFill>
                <a:srgbClr val="333333"/>
              </a:solidFill>
              <a:latin typeface="Arial"/>
            </a:endParaRPr>
          </a:p>
          <a:p>
            <a:endParaRPr sz="800" b="1" dirty="0">
              <a:solidFill>
                <a:srgbClr val="333333"/>
              </a:solidFill>
              <a:latin typeface="Arial"/>
            </a:endParaRPr>
          </a:p>
          <a:p>
            <a:r>
              <a:rPr sz="800" b="1" dirty="0">
                <a:solidFill>
                  <a:srgbClr val="333333"/>
                </a:solidFill>
                <a:latin typeface="Arial"/>
              </a:rPr>
              <a:t>·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중복·모순의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누적</a:t>
            </a:r>
            <a:endParaRPr sz="800" b="1" dirty="0">
              <a:solidFill>
                <a:srgbClr val="333333"/>
              </a:solidFill>
              <a:latin typeface="Arial"/>
            </a:endParaRPr>
          </a:p>
          <a:p>
            <a:r>
              <a:rPr sz="800" b="1" dirty="0">
                <a:solidFill>
                  <a:srgbClr val="333333"/>
                </a:solidFill>
                <a:latin typeface="Arial"/>
              </a:rPr>
              <a:t>  </a:t>
            </a:r>
            <a:r>
              <a:rPr sz="800" dirty="0">
                <a:solidFill>
                  <a:srgbClr val="333333"/>
                </a:solidFill>
                <a:latin typeface="Arial"/>
              </a:rPr>
              <a:t>v1/v2 </a:t>
            </a:r>
            <a:r>
              <a:rPr sz="800" dirty="0" err="1">
                <a:solidFill>
                  <a:srgbClr val="333333"/>
                </a:solidFill>
                <a:latin typeface="Arial"/>
              </a:rPr>
              <a:t>후속</a:t>
            </a:r>
            <a:r>
              <a:rPr sz="800" dirty="0">
                <a:solidFill>
                  <a:srgbClr val="333333"/>
                </a:solidFill>
                <a:latin typeface="Arial"/>
              </a:rPr>
              <a:t> </a:t>
            </a:r>
            <a:r>
              <a:rPr sz="800" dirty="0" err="1">
                <a:solidFill>
                  <a:srgbClr val="333333"/>
                </a:solidFill>
                <a:latin typeface="Arial"/>
              </a:rPr>
              <a:t>문서가</a:t>
            </a:r>
            <a:r>
              <a:rPr sz="800" dirty="0">
                <a:solidFill>
                  <a:srgbClr val="333333"/>
                </a:solidFill>
                <a:latin typeface="Arial"/>
              </a:rPr>
              <a:t> </a:t>
            </a:r>
            <a:r>
              <a:rPr sz="800" dirty="0" err="1">
                <a:solidFill>
                  <a:srgbClr val="333333"/>
                </a:solidFill>
                <a:latin typeface="Arial"/>
              </a:rPr>
              <a:t>통합되지</a:t>
            </a:r>
            <a:r>
              <a:rPr sz="800" dirty="0">
                <a:solidFill>
                  <a:srgbClr val="333333"/>
                </a:solidFill>
                <a:latin typeface="Arial"/>
              </a:rPr>
              <a:t> </a:t>
            </a:r>
            <a:r>
              <a:rPr sz="800" dirty="0" err="1">
                <a:solidFill>
                  <a:srgbClr val="333333"/>
                </a:solidFill>
                <a:latin typeface="Arial"/>
              </a:rPr>
              <a:t>않아</a:t>
            </a:r>
            <a:r>
              <a:rPr sz="800" dirty="0">
                <a:solidFill>
                  <a:srgbClr val="333333"/>
                </a:solidFill>
                <a:latin typeface="Arial"/>
              </a:rPr>
              <a:t> </a:t>
            </a:r>
            <a:r>
              <a:rPr sz="800" dirty="0" err="1">
                <a:solidFill>
                  <a:srgbClr val="333333"/>
                </a:solidFill>
                <a:latin typeface="Arial"/>
              </a:rPr>
              <a:t>페이지</a:t>
            </a:r>
            <a:r>
              <a:rPr sz="800" dirty="0">
                <a:solidFill>
                  <a:srgbClr val="333333"/>
                </a:solidFill>
                <a:latin typeface="Arial"/>
              </a:rPr>
              <a:t> 간 </a:t>
            </a:r>
            <a:r>
              <a:rPr sz="800" dirty="0" err="1">
                <a:solidFill>
                  <a:srgbClr val="333333"/>
                </a:solidFill>
                <a:latin typeface="Arial"/>
              </a:rPr>
              <a:t>정합성이</a:t>
            </a:r>
            <a:r>
              <a:rPr sz="800" dirty="0">
                <a:solidFill>
                  <a:srgbClr val="333333"/>
                </a:solidFill>
                <a:latin typeface="Arial"/>
              </a:rPr>
              <a:t> </a:t>
            </a:r>
            <a:r>
              <a:rPr sz="800" dirty="0" err="1">
                <a:solidFill>
                  <a:srgbClr val="333333"/>
                </a:solidFill>
                <a:latin typeface="Arial"/>
              </a:rPr>
              <a:t>무너짐</a:t>
            </a:r>
            <a:endParaRPr sz="800" dirty="0">
              <a:solidFill>
                <a:srgbClr val="333333"/>
              </a:solidFill>
              <a:latin typeface="Arial"/>
            </a:endParaRPr>
          </a:p>
          <a:p>
            <a:endParaRPr sz="800" b="1" dirty="0">
              <a:solidFill>
                <a:srgbClr val="333333"/>
              </a:solidFill>
              <a:latin typeface="Arial"/>
            </a:endParaRPr>
          </a:p>
          <a:p>
            <a:r>
              <a:rPr sz="800" b="1" dirty="0">
                <a:solidFill>
                  <a:srgbClr val="333333"/>
                </a:solidFill>
                <a:latin typeface="Arial"/>
              </a:rPr>
              <a:t>·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수동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정리의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한계</a:t>
            </a:r>
            <a:endParaRPr sz="800" b="1" dirty="0">
              <a:solidFill>
                <a:srgbClr val="333333"/>
              </a:solidFill>
              <a:latin typeface="Arial"/>
            </a:endParaRPr>
          </a:p>
          <a:p>
            <a:r>
              <a:rPr sz="800" b="1" dirty="0">
                <a:solidFill>
                  <a:srgbClr val="333333"/>
                </a:solidFill>
                <a:latin typeface="Arial"/>
              </a:rPr>
              <a:t>  </a:t>
            </a:r>
            <a:r>
              <a:rPr sz="800" dirty="0" err="1">
                <a:solidFill>
                  <a:srgbClr val="333333"/>
                </a:solidFill>
                <a:latin typeface="Arial"/>
              </a:rPr>
              <a:t>문서</a:t>
            </a:r>
            <a:r>
              <a:rPr sz="800" dirty="0">
                <a:solidFill>
                  <a:srgbClr val="333333"/>
                </a:solidFill>
                <a:latin typeface="Arial"/>
              </a:rPr>
              <a:t> 1건당 약 30분 </a:t>
            </a:r>
            <a:r>
              <a:rPr sz="800" dirty="0" err="1">
                <a:solidFill>
                  <a:srgbClr val="333333"/>
                </a:solidFill>
                <a:latin typeface="Arial"/>
              </a:rPr>
              <a:t>소요</a:t>
            </a:r>
            <a:r>
              <a:rPr sz="800" dirty="0">
                <a:solidFill>
                  <a:srgbClr val="333333"/>
                </a:solidFill>
                <a:latin typeface="Arial"/>
              </a:rPr>
              <a:t>, </a:t>
            </a:r>
            <a:r>
              <a:rPr sz="800" dirty="0" err="1">
                <a:solidFill>
                  <a:srgbClr val="333333"/>
                </a:solidFill>
                <a:latin typeface="Arial"/>
              </a:rPr>
              <a:t>인원</a:t>
            </a:r>
            <a:r>
              <a:rPr sz="800" dirty="0">
                <a:solidFill>
                  <a:srgbClr val="333333"/>
                </a:solidFill>
                <a:latin typeface="Arial"/>
              </a:rPr>
              <a:t> </a:t>
            </a:r>
            <a:r>
              <a:rPr sz="800" dirty="0" err="1">
                <a:solidFill>
                  <a:srgbClr val="333333"/>
                </a:solidFill>
                <a:latin typeface="Arial"/>
              </a:rPr>
              <a:t>교체</a:t>
            </a:r>
            <a:r>
              <a:rPr sz="800" dirty="0">
                <a:solidFill>
                  <a:srgbClr val="333333"/>
                </a:solidFill>
                <a:latin typeface="Arial"/>
              </a:rPr>
              <a:t> 시 </a:t>
            </a:r>
            <a:r>
              <a:rPr sz="800" dirty="0" err="1">
                <a:solidFill>
                  <a:srgbClr val="333333"/>
                </a:solidFill>
                <a:latin typeface="Arial"/>
              </a:rPr>
              <a:t>맥락·근거가</a:t>
            </a:r>
            <a:r>
              <a:rPr sz="800" dirty="0">
                <a:solidFill>
                  <a:srgbClr val="333333"/>
                </a:solidFill>
                <a:latin typeface="Arial"/>
              </a:rPr>
              <a:t> </a:t>
            </a:r>
            <a:r>
              <a:rPr sz="800" dirty="0" err="1">
                <a:solidFill>
                  <a:srgbClr val="333333"/>
                </a:solidFill>
                <a:latin typeface="Arial"/>
              </a:rPr>
              <a:t>함께</a:t>
            </a:r>
            <a:r>
              <a:rPr sz="800" dirty="0">
                <a:solidFill>
                  <a:srgbClr val="333333"/>
                </a:solidFill>
                <a:latin typeface="Arial"/>
              </a:rPr>
              <a:t> </a:t>
            </a:r>
            <a:r>
              <a:rPr sz="800" dirty="0" err="1">
                <a:solidFill>
                  <a:srgbClr val="333333"/>
                </a:solidFill>
                <a:latin typeface="Arial"/>
              </a:rPr>
              <a:t>단절</a:t>
            </a:r>
            <a:endParaRPr sz="800" dirty="0">
              <a:solidFill>
                <a:srgbClr val="333333"/>
              </a:solidFill>
              <a:latin typeface="Arial"/>
            </a:endParaRPr>
          </a:p>
          <a:p>
            <a:endParaRPr sz="800" b="1" dirty="0">
              <a:solidFill>
                <a:srgbClr val="333333"/>
              </a:solidFill>
              <a:latin typeface="Arial"/>
            </a:endParaRPr>
          </a:p>
          <a:p>
            <a:r>
              <a:rPr sz="800" b="1" dirty="0">
                <a:solidFill>
                  <a:srgbClr val="333333"/>
                </a:solidFill>
                <a:latin typeface="Arial"/>
              </a:rPr>
              <a:t>·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검색·재사용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저하</a:t>
            </a:r>
            <a:endParaRPr sz="800" b="1" dirty="0">
              <a:solidFill>
                <a:srgbClr val="333333"/>
              </a:solidFill>
              <a:latin typeface="Arial"/>
            </a:endParaRPr>
          </a:p>
          <a:p>
            <a:r>
              <a:rPr sz="800" b="1" dirty="0">
                <a:solidFill>
                  <a:srgbClr val="333333"/>
                </a:solidFill>
                <a:latin typeface="Arial"/>
              </a:rPr>
              <a:t>  </a:t>
            </a:r>
            <a:r>
              <a:rPr sz="800" dirty="0" err="1">
                <a:solidFill>
                  <a:srgbClr val="333333"/>
                </a:solidFill>
                <a:latin typeface="Arial"/>
              </a:rPr>
              <a:t>필요</a:t>
            </a:r>
            <a:r>
              <a:rPr sz="800" dirty="0">
                <a:solidFill>
                  <a:srgbClr val="333333"/>
                </a:solidFill>
                <a:latin typeface="Arial"/>
              </a:rPr>
              <a:t> </a:t>
            </a:r>
            <a:r>
              <a:rPr sz="800" dirty="0" err="1">
                <a:solidFill>
                  <a:srgbClr val="333333"/>
                </a:solidFill>
                <a:latin typeface="Arial"/>
              </a:rPr>
              <a:t>정보</a:t>
            </a:r>
            <a:r>
              <a:rPr sz="800" dirty="0">
                <a:solidFill>
                  <a:srgbClr val="333333"/>
                </a:solidFill>
                <a:latin typeface="Arial"/>
              </a:rPr>
              <a:t> </a:t>
            </a:r>
            <a:r>
              <a:rPr sz="800" dirty="0" err="1">
                <a:solidFill>
                  <a:srgbClr val="333333"/>
                </a:solidFill>
                <a:latin typeface="Arial"/>
              </a:rPr>
              <a:t>탐색이</a:t>
            </a:r>
            <a:r>
              <a:rPr sz="800" dirty="0">
                <a:solidFill>
                  <a:srgbClr val="333333"/>
                </a:solidFill>
                <a:latin typeface="Arial"/>
              </a:rPr>
              <a:t> </a:t>
            </a:r>
            <a:r>
              <a:rPr sz="800" dirty="0" err="1">
                <a:solidFill>
                  <a:srgbClr val="333333"/>
                </a:solidFill>
                <a:latin typeface="Arial"/>
              </a:rPr>
              <a:t>어렵고</a:t>
            </a:r>
            <a:r>
              <a:rPr sz="800" dirty="0">
                <a:solidFill>
                  <a:srgbClr val="333333"/>
                </a:solidFill>
                <a:latin typeface="Arial"/>
              </a:rPr>
              <a:t> </a:t>
            </a:r>
            <a:r>
              <a:rPr sz="800" dirty="0" err="1">
                <a:solidFill>
                  <a:srgbClr val="333333"/>
                </a:solidFill>
                <a:latin typeface="Arial"/>
              </a:rPr>
              <a:t>의사결정</a:t>
            </a:r>
            <a:r>
              <a:rPr sz="800" dirty="0">
                <a:solidFill>
                  <a:srgbClr val="333333"/>
                </a:solidFill>
                <a:latin typeface="Arial"/>
              </a:rPr>
              <a:t> </a:t>
            </a:r>
            <a:r>
              <a:rPr sz="800" dirty="0" err="1">
                <a:solidFill>
                  <a:srgbClr val="333333"/>
                </a:solidFill>
                <a:latin typeface="Arial"/>
              </a:rPr>
              <a:t>근거</a:t>
            </a:r>
            <a:r>
              <a:rPr sz="800" dirty="0">
                <a:solidFill>
                  <a:srgbClr val="333333"/>
                </a:solidFill>
                <a:latin typeface="Arial"/>
              </a:rPr>
              <a:t> </a:t>
            </a:r>
            <a:r>
              <a:rPr sz="800" dirty="0" err="1">
                <a:solidFill>
                  <a:srgbClr val="333333"/>
                </a:solidFill>
                <a:latin typeface="Arial"/>
              </a:rPr>
              <a:t>추적이</a:t>
            </a:r>
            <a:r>
              <a:rPr sz="800" dirty="0">
                <a:solidFill>
                  <a:srgbClr val="333333"/>
                </a:solidFill>
                <a:latin typeface="Arial"/>
              </a:rPr>
              <a:t> </a:t>
            </a:r>
            <a:r>
              <a:rPr sz="800" dirty="0" err="1">
                <a:solidFill>
                  <a:srgbClr val="333333"/>
                </a:solidFill>
                <a:latin typeface="Arial"/>
              </a:rPr>
              <a:t>곤란</a:t>
            </a:r>
            <a:endParaRPr sz="80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56032" y="2569464"/>
            <a:ext cx="4617720" cy="2368296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2569464"/>
            <a:ext cx="54864" cy="2368296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904" y="2660904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B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핵심 기능 (Core Features)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4904" y="2953512"/>
            <a:ext cx="4416552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 b="1" dirty="0">
                <a:solidFill>
                  <a:srgbClr val="333333"/>
                </a:solidFill>
                <a:latin typeface="Arial"/>
              </a:rPr>
              <a:t>·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멀티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에이전트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자동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적재</a:t>
            </a:r>
            <a:endParaRPr lang="en-US" sz="800" dirty="0"/>
          </a:p>
          <a:p>
            <a:r>
              <a:rPr sz="800" b="1" dirty="0">
                <a:solidFill>
                  <a:srgbClr val="333333"/>
                </a:solidFill>
                <a:latin typeface="Arial"/>
              </a:rPr>
              <a:t> 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LangGraph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기반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13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노드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파이프라인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(LLM 8 /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일반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5)</a:t>
            </a:r>
          </a:p>
          <a:p>
            <a:r>
              <a:rPr sz="800" b="1" dirty="0">
                <a:solidFill>
                  <a:srgbClr val="333333"/>
                </a:solidFill>
                <a:latin typeface="Arial"/>
              </a:rPr>
              <a:t> 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수집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US" altLang="ko-KR" sz="800" b="1" dirty="0" smtClean="0">
                <a:solidFill>
                  <a:srgbClr val="333333"/>
                </a:solidFill>
                <a:latin typeface="Arial"/>
              </a:rPr>
              <a:t>&gt;</a:t>
            </a:r>
            <a:r>
              <a:rPr sz="800" b="1" dirty="0" smtClean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정규화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US" altLang="ko-KR" sz="800" b="1" dirty="0" smtClean="0">
                <a:solidFill>
                  <a:srgbClr val="333333"/>
                </a:solidFill>
                <a:latin typeface="Arial"/>
              </a:rPr>
              <a:t>&gt;</a:t>
            </a:r>
            <a:r>
              <a:rPr sz="800" b="1" dirty="0" smtClean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도메인분해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US" altLang="ko-KR" sz="800" b="1" dirty="0" smtClean="0">
                <a:solidFill>
                  <a:srgbClr val="333333"/>
                </a:solidFill>
                <a:latin typeface="Arial"/>
              </a:rPr>
              <a:t>&gt;</a:t>
            </a:r>
            <a:r>
              <a:rPr sz="800" b="1" dirty="0" smtClean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임베딩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US" altLang="ko-KR" sz="800" b="1" dirty="0" smtClean="0">
                <a:solidFill>
                  <a:srgbClr val="333333"/>
                </a:solidFill>
                <a:latin typeface="Arial"/>
              </a:rPr>
              <a:t>&gt;</a:t>
            </a:r>
            <a:r>
              <a:rPr sz="800" b="1" dirty="0" smtClean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유사도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US" altLang="ko-KR" sz="800" b="1" dirty="0" smtClean="0">
                <a:solidFill>
                  <a:srgbClr val="333333"/>
                </a:solidFill>
                <a:latin typeface="Arial"/>
              </a:rPr>
              <a:t>&gt;</a:t>
            </a:r>
            <a:r>
              <a:rPr sz="800" b="1" dirty="0" smtClean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충돌판정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US" altLang="ko-KR" sz="800" b="1" dirty="0" smtClean="0">
                <a:solidFill>
                  <a:srgbClr val="333333"/>
                </a:solidFill>
                <a:latin typeface="Arial"/>
              </a:rPr>
              <a:t>&gt;</a:t>
            </a:r>
            <a:r>
              <a:rPr sz="800" b="1" dirty="0" smtClean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병합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US" altLang="ko-KR" sz="800" b="1" dirty="0" smtClean="0">
                <a:solidFill>
                  <a:srgbClr val="333333"/>
                </a:solidFill>
                <a:latin typeface="Arial"/>
              </a:rPr>
              <a:t>&gt;</a:t>
            </a:r>
            <a:r>
              <a:rPr sz="800" b="1" dirty="0" smtClean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누락검토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(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피드백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) </a:t>
            </a:r>
            <a:r>
              <a:rPr lang="en-US" altLang="ko-KR" sz="800" b="1" dirty="0" smtClean="0">
                <a:solidFill>
                  <a:srgbClr val="333333"/>
                </a:solidFill>
                <a:latin typeface="Arial"/>
              </a:rPr>
              <a:t>&gt;</a:t>
            </a:r>
            <a:r>
              <a:rPr sz="800" b="1" dirty="0" smtClean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상호참조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US" altLang="ko-KR" sz="800" b="1" dirty="0" smtClean="0">
                <a:solidFill>
                  <a:srgbClr val="333333"/>
                </a:solidFill>
                <a:latin typeface="Arial"/>
              </a:rPr>
              <a:t>&gt;</a:t>
            </a:r>
            <a:r>
              <a:rPr sz="800" b="1" dirty="0" smtClean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인덱싱</a:t>
            </a:r>
            <a:endParaRPr sz="800" b="1" dirty="0">
              <a:solidFill>
                <a:srgbClr val="333333"/>
              </a:solidFill>
              <a:latin typeface="Arial"/>
            </a:endParaRPr>
          </a:p>
          <a:p>
            <a:endParaRPr sz="800" b="1" dirty="0">
              <a:solidFill>
                <a:srgbClr val="333333"/>
              </a:solidFill>
              <a:latin typeface="Arial"/>
            </a:endParaRPr>
          </a:p>
          <a:p>
            <a:r>
              <a:rPr sz="800" b="1" dirty="0">
                <a:solidFill>
                  <a:srgbClr val="333333"/>
                </a:solidFill>
                <a:latin typeface="Arial"/>
              </a:rPr>
              <a:t>· LLM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자동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병합</a:t>
            </a:r>
            <a:endParaRPr sz="800" b="1" dirty="0">
              <a:solidFill>
                <a:srgbClr val="333333"/>
              </a:solidFill>
              <a:latin typeface="Arial"/>
            </a:endParaRPr>
          </a:p>
          <a:p>
            <a:r>
              <a:rPr sz="800" b="1" dirty="0">
                <a:solidFill>
                  <a:srgbClr val="333333"/>
                </a:solidFill>
                <a:latin typeface="Arial"/>
              </a:rPr>
              <a:t> 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벡터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+ LLM 2단계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동일성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판정으로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중복·충돌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자동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해소</a:t>
            </a:r>
            <a:endParaRPr sz="800" b="1" dirty="0">
              <a:solidFill>
                <a:srgbClr val="333333"/>
              </a:solidFill>
              <a:latin typeface="Arial"/>
            </a:endParaRPr>
          </a:p>
          <a:p>
            <a:endParaRPr sz="800" b="1" dirty="0">
              <a:solidFill>
                <a:srgbClr val="333333"/>
              </a:solidFill>
              <a:latin typeface="Arial"/>
            </a:endParaRPr>
          </a:p>
          <a:p>
            <a:r>
              <a:rPr sz="800" b="1" dirty="0">
                <a:solidFill>
                  <a:srgbClr val="333333"/>
                </a:solidFill>
                <a:latin typeface="Arial"/>
              </a:rPr>
              <a:t>·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하이브리드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검색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+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질의응답</a:t>
            </a:r>
            <a:endParaRPr sz="800" b="1" dirty="0">
              <a:solidFill>
                <a:srgbClr val="333333"/>
              </a:solidFill>
              <a:latin typeface="Arial"/>
            </a:endParaRPr>
          </a:p>
          <a:p>
            <a:r>
              <a:rPr sz="800" b="1" dirty="0">
                <a:solidFill>
                  <a:srgbClr val="333333"/>
                </a:solidFill>
                <a:latin typeface="Arial"/>
              </a:rPr>
              <a:t>  BM25 +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벡터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RRF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융합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검색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,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근거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인용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기반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LLM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답변</a:t>
            </a:r>
            <a:endParaRPr sz="800" b="1" dirty="0">
              <a:solidFill>
                <a:srgbClr val="333333"/>
              </a:solidFill>
              <a:latin typeface="Arial"/>
            </a:endParaRPr>
          </a:p>
          <a:p>
            <a:endParaRPr sz="800" b="1" dirty="0">
              <a:solidFill>
                <a:srgbClr val="333333"/>
              </a:solidFill>
              <a:latin typeface="Arial"/>
            </a:endParaRPr>
          </a:p>
          <a:p>
            <a:r>
              <a:rPr sz="800" b="1" dirty="0">
                <a:solidFill>
                  <a:srgbClr val="333333"/>
                </a:solidFill>
                <a:latin typeface="Arial"/>
              </a:rPr>
              <a:t>·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지식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그래프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자동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갱신</a:t>
            </a:r>
            <a:endParaRPr sz="800" b="1" dirty="0">
              <a:solidFill>
                <a:srgbClr val="333333"/>
              </a:solidFill>
              <a:latin typeface="Arial"/>
            </a:endParaRPr>
          </a:p>
          <a:p>
            <a:r>
              <a:rPr sz="800" b="1" dirty="0">
                <a:solidFill>
                  <a:srgbClr val="333333"/>
                </a:solidFill>
                <a:latin typeface="Arial"/>
              </a:rPr>
              <a:t>  9종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엣지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+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상·중·하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신뢰도로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페이지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간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의미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관계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자동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유지</a:t>
            </a:r>
            <a:endParaRPr sz="800" b="1" dirty="0">
              <a:solidFill>
                <a:srgbClr val="333333"/>
              </a:solidFill>
              <a:latin typeface="Arial"/>
            </a:endParaRPr>
          </a:p>
          <a:p>
            <a:endParaRPr sz="800" b="1" dirty="0">
              <a:solidFill>
                <a:srgbClr val="333333"/>
              </a:solidFill>
              <a:latin typeface="Arial"/>
            </a:endParaRPr>
          </a:p>
          <a:p>
            <a:r>
              <a:rPr sz="800" b="1" dirty="0" err="1">
                <a:solidFill>
                  <a:srgbClr val="333333"/>
                </a:solidFill>
                <a:latin typeface="Arial"/>
              </a:rPr>
              <a:t>기술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스택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 · 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LangGraph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· Azure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OpenAI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· Chroma · </a:t>
            </a:r>
            <a:r>
              <a:rPr sz="800" b="1" dirty="0" err="1">
                <a:solidFill>
                  <a:srgbClr val="333333"/>
                </a:solidFill>
                <a:latin typeface="Arial"/>
              </a:rPr>
              <a:t>FastAPI</a:t>
            </a:r>
            <a:r>
              <a:rPr sz="800" b="1" dirty="0">
                <a:solidFill>
                  <a:srgbClr val="333333"/>
                </a:solidFill>
                <a:latin typeface="Arial"/>
              </a:rPr>
              <a:t> + SSE · React Flow</a:t>
            </a:r>
          </a:p>
        </p:txBody>
      </p:sp>
      <p:sp>
        <p:nvSpPr>
          <p:cNvPr id="17" name="Text 15"/>
          <p:cNvSpPr/>
          <p:nvPr/>
        </p:nvSpPr>
        <p:spPr>
          <a:xfrm>
            <a:off x="5056632" y="667512"/>
            <a:ext cx="3831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성과 (Key Achievements)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56632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02352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 smtClean="0">
                <a:solidFill>
                  <a:srgbClr val="1A365D"/>
                </a:solidFill>
                <a:latin typeface="Arial"/>
              </a:rPr>
              <a:t>빠른 문서 관리</a:t>
            </a:r>
            <a:endParaRPr lang="en-US" altLang="ko-KR" sz="1200" b="1" dirty="0" smtClean="0">
              <a:solidFill>
                <a:srgbClr val="1A365D"/>
              </a:solidFill>
              <a:latin typeface="Arial"/>
            </a:endParaRPr>
          </a:p>
          <a:p>
            <a:pPr marL="0" indent="0" algn="ctr">
              <a:buNone/>
            </a:pPr>
            <a:r>
              <a:rPr sz="900" b="1" dirty="0" smtClean="0">
                <a:solidFill>
                  <a:srgbClr val="1A365D"/>
                </a:solidFill>
                <a:latin typeface="Arial"/>
              </a:rPr>
              <a:t>(</a:t>
            </a:r>
            <a:r>
              <a:rPr sz="900" b="1" dirty="0" err="1">
                <a:solidFill>
                  <a:srgbClr val="1A365D"/>
                </a:solidFill>
                <a:latin typeface="Arial"/>
              </a:rPr>
              <a:t>수동</a:t>
            </a:r>
            <a:r>
              <a:rPr sz="900" b="1" dirty="0">
                <a:solidFill>
                  <a:srgbClr val="1A365D"/>
                </a:solidFill>
                <a:latin typeface="Arial"/>
              </a:rPr>
              <a:t> ~30분 </a:t>
            </a:r>
            <a:r>
              <a:rPr sz="900" b="1" dirty="0" err="1">
                <a:solidFill>
                  <a:srgbClr val="1A365D"/>
                </a:solidFill>
                <a:latin typeface="Arial"/>
              </a:rPr>
              <a:t>대비</a:t>
            </a:r>
            <a:r>
              <a:rPr sz="900" b="1" dirty="0">
                <a:solidFill>
                  <a:srgbClr val="1A365D"/>
                </a:solidFill>
                <a:latin typeface="Arial"/>
              </a:rPr>
              <a:t> 60배)</a:t>
            </a:r>
          </a:p>
        </p:txBody>
      </p:sp>
      <p:sp>
        <p:nvSpPr>
          <p:cNvPr id="20" name="Shape 18"/>
          <p:cNvSpPr/>
          <p:nvPr/>
        </p:nvSpPr>
        <p:spPr>
          <a:xfrm>
            <a:off x="7027164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72884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 smtClean="0">
                <a:solidFill>
                  <a:srgbClr val="1A365D"/>
                </a:solidFill>
                <a:latin typeface="Arial"/>
              </a:rPr>
              <a:t>누락 없는 문서 </a:t>
            </a:r>
            <a:r>
              <a:rPr sz="1200" b="1" dirty="0" err="1" smtClean="0">
                <a:solidFill>
                  <a:srgbClr val="1A365D"/>
                </a:solidFill>
                <a:latin typeface="Arial"/>
              </a:rPr>
              <a:t>병합</a:t>
            </a:r>
            <a:r>
              <a:rPr sz="1200" b="1" dirty="0" smtClean="0">
                <a:solidFill>
                  <a:srgbClr val="1A365D"/>
                </a:solidFill>
                <a:latin typeface="Arial"/>
              </a:rPr>
              <a:t> </a:t>
            </a:r>
            <a:r>
              <a:rPr lang="en-US" sz="1000" b="1" dirty="0">
                <a:solidFill>
                  <a:srgbClr val="1A365D"/>
                </a:solidFill>
                <a:latin typeface="Arial"/>
              </a:rPr>
              <a:t>(</a:t>
            </a:r>
            <a:r>
              <a:rPr lang="ko-KR" altLang="en-US" sz="800" b="1" dirty="0" smtClean="0">
                <a:solidFill>
                  <a:srgbClr val="1A365D"/>
                </a:solidFill>
                <a:latin typeface="Arial"/>
              </a:rPr>
              <a:t>커버리지 </a:t>
            </a:r>
            <a:r>
              <a:rPr lang="en-US" altLang="ko-KR" sz="800" b="1" dirty="0" smtClean="0">
                <a:solidFill>
                  <a:srgbClr val="1A365D"/>
                </a:solidFill>
                <a:latin typeface="Arial"/>
              </a:rPr>
              <a:t>100%, </a:t>
            </a:r>
            <a:r>
              <a:rPr sz="800" b="1" dirty="0" err="1" smtClean="0">
                <a:solidFill>
                  <a:srgbClr val="1A365D"/>
                </a:solidFill>
                <a:latin typeface="Arial"/>
              </a:rPr>
              <a:t>누락</a:t>
            </a:r>
            <a:r>
              <a:rPr sz="800" b="1" dirty="0" smtClean="0">
                <a:solidFill>
                  <a:srgbClr val="1A365D"/>
                </a:solidFill>
                <a:latin typeface="Arial"/>
              </a:rPr>
              <a:t> </a:t>
            </a:r>
            <a:r>
              <a:rPr sz="800" b="1" dirty="0">
                <a:solidFill>
                  <a:srgbClr val="1A365D"/>
                </a:solidFill>
                <a:latin typeface="Arial"/>
              </a:rPr>
              <a:t>0</a:t>
            </a:r>
            <a:r>
              <a:rPr sz="800" b="1" dirty="0" smtClean="0">
                <a:solidFill>
                  <a:srgbClr val="1A365D"/>
                </a:solidFill>
                <a:latin typeface="Arial"/>
              </a:rPr>
              <a:t>건</a:t>
            </a:r>
            <a:r>
              <a:rPr lang="en-US" sz="800" b="1" dirty="0" smtClean="0">
                <a:solidFill>
                  <a:srgbClr val="1A365D"/>
                </a:solidFill>
                <a:latin typeface="Arial"/>
              </a:rPr>
              <a:t>)</a:t>
            </a:r>
            <a:endParaRPr sz="1200" b="1" dirty="0">
              <a:solidFill>
                <a:srgbClr val="1A365D"/>
              </a:solidFill>
              <a:latin typeface="Arial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056632" y="1874520"/>
            <a:ext cx="3831336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48072" y="1920240"/>
            <a:ext cx="3648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600" b="1" dirty="0" smtClean="0">
                <a:solidFill>
                  <a:srgbClr val="1A365D"/>
                </a:solidFill>
                <a:latin typeface="Arial"/>
              </a:rPr>
              <a:t>사람의 개입이 없는 완전 자동화 </a:t>
            </a:r>
            <a:r>
              <a:rPr lang="en-US" altLang="ko-KR" b="1" dirty="0" smtClean="0">
                <a:solidFill>
                  <a:srgbClr val="1A365D"/>
                </a:solidFill>
                <a:latin typeface="Arial"/>
              </a:rPr>
              <a:t/>
            </a:r>
            <a:br>
              <a:rPr lang="en-US" altLang="ko-KR" b="1" dirty="0" smtClean="0">
                <a:solidFill>
                  <a:srgbClr val="1A365D"/>
                </a:solidFill>
                <a:latin typeface="Arial"/>
              </a:rPr>
            </a:br>
            <a:r>
              <a:rPr lang="en-US" altLang="ko-KR" sz="1050" b="1" dirty="0" smtClean="0">
                <a:solidFill>
                  <a:srgbClr val="1A365D"/>
                </a:solidFill>
                <a:latin typeface="Arial"/>
              </a:rPr>
              <a:t>(</a:t>
            </a:r>
            <a:r>
              <a:rPr sz="900" b="1" dirty="0" err="1" smtClean="0">
                <a:solidFill>
                  <a:srgbClr val="1A365D"/>
                </a:solidFill>
                <a:latin typeface="Arial"/>
              </a:rPr>
              <a:t>분류</a:t>
            </a:r>
            <a:r>
              <a:rPr sz="900" b="1" dirty="0" smtClean="0">
                <a:solidFill>
                  <a:srgbClr val="1A365D"/>
                </a:solidFill>
                <a:latin typeface="Arial"/>
              </a:rPr>
              <a:t> </a:t>
            </a:r>
            <a:r>
              <a:rPr lang="en-US" altLang="ko-KR" sz="900" b="1" dirty="0" smtClean="0">
                <a:solidFill>
                  <a:srgbClr val="1A365D"/>
                </a:solidFill>
                <a:latin typeface="Arial"/>
              </a:rPr>
              <a:t>&gt;</a:t>
            </a:r>
            <a:r>
              <a:rPr sz="900" b="1" dirty="0" smtClean="0">
                <a:solidFill>
                  <a:srgbClr val="1A365D"/>
                </a:solidFill>
                <a:latin typeface="Arial"/>
              </a:rPr>
              <a:t> </a:t>
            </a:r>
            <a:r>
              <a:rPr sz="900" b="1" dirty="0" err="1">
                <a:solidFill>
                  <a:srgbClr val="1A365D"/>
                </a:solidFill>
                <a:latin typeface="Arial"/>
              </a:rPr>
              <a:t>병합</a:t>
            </a:r>
            <a:r>
              <a:rPr sz="900" b="1" dirty="0">
                <a:solidFill>
                  <a:srgbClr val="1A365D"/>
                </a:solidFill>
                <a:latin typeface="Arial"/>
              </a:rPr>
              <a:t> </a:t>
            </a:r>
            <a:r>
              <a:rPr lang="en-US" altLang="ko-KR" sz="900" b="1" dirty="0" smtClean="0">
                <a:solidFill>
                  <a:srgbClr val="1A365D"/>
                </a:solidFill>
                <a:latin typeface="Arial"/>
              </a:rPr>
              <a:t>&gt;</a:t>
            </a:r>
            <a:r>
              <a:rPr sz="900" b="1" dirty="0" smtClean="0">
                <a:solidFill>
                  <a:srgbClr val="1A365D"/>
                </a:solidFill>
                <a:latin typeface="Arial"/>
              </a:rPr>
              <a:t> </a:t>
            </a:r>
            <a:r>
              <a:rPr sz="900" b="1" dirty="0" err="1">
                <a:solidFill>
                  <a:srgbClr val="1A365D"/>
                </a:solidFill>
                <a:latin typeface="Arial"/>
              </a:rPr>
              <a:t>검증</a:t>
            </a:r>
            <a:r>
              <a:rPr sz="900" b="1" dirty="0">
                <a:solidFill>
                  <a:srgbClr val="1A365D"/>
                </a:solidFill>
                <a:latin typeface="Arial"/>
              </a:rPr>
              <a:t> </a:t>
            </a:r>
            <a:r>
              <a:rPr lang="en-US" altLang="ko-KR" sz="900" b="1" dirty="0" smtClean="0">
                <a:solidFill>
                  <a:srgbClr val="1A365D"/>
                </a:solidFill>
                <a:latin typeface="Arial"/>
              </a:rPr>
              <a:t>&gt;</a:t>
            </a:r>
            <a:r>
              <a:rPr sz="900" b="1" dirty="0" smtClean="0">
                <a:solidFill>
                  <a:srgbClr val="1A365D"/>
                </a:solidFill>
                <a:latin typeface="Arial"/>
              </a:rPr>
              <a:t> </a:t>
            </a:r>
            <a:r>
              <a:rPr sz="900" b="1" dirty="0" err="1">
                <a:solidFill>
                  <a:srgbClr val="1A365D"/>
                </a:solidFill>
                <a:latin typeface="Arial"/>
              </a:rPr>
              <a:t>연결까지</a:t>
            </a:r>
            <a:r>
              <a:rPr sz="900" b="1" dirty="0">
                <a:solidFill>
                  <a:srgbClr val="1A365D"/>
                </a:solidFill>
                <a:latin typeface="Arial"/>
              </a:rPr>
              <a:t> </a:t>
            </a:r>
            <a:r>
              <a:rPr sz="900" b="1" dirty="0" err="1">
                <a:solidFill>
                  <a:srgbClr val="1A365D"/>
                </a:solidFill>
                <a:latin typeface="Arial"/>
              </a:rPr>
              <a:t>사람</a:t>
            </a:r>
            <a:r>
              <a:rPr sz="900" b="1" dirty="0">
                <a:solidFill>
                  <a:srgbClr val="1A365D"/>
                </a:solidFill>
                <a:latin typeface="Arial"/>
              </a:rPr>
              <a:t> </a:t>
            </a:r>
            <a:r>
              <a:rPr sz="900" b="1" dirty="0" err="1">
                <a:solidFill>
                  <a:srgbClr val="1A365D"/>
                </a:solidFill>
                <a:latin typeface="Arial"/>
              </a:rPr>
              <a:t>개입</a:t>
            </a:r>
            <a:r>
              <a:rPr sz="900" b="1" dirty="0">
                <a:solidFill>
                  <a:srgbClr val="1A365D"/>
                </a:solidFill>
                <a:latin typeface="Arial"/>
              </a:rPr>
              <a:t> </a:t>
            </a:r>
            <a:r>
              <a:rPr lang="ko-KR" altLang="en-US" sz="900" b="1" dirty="0" smtClean="0">
                <a:solidFill>
                  <a:srgbClr val="1A365D"/>
                </a:solidFill>
                <a:latin typeface="Arial"/>
              </a:rPr>
              <a:t>불필요</a:t>
            </a:r>
            <a:r>
              <a:rPr lang="en-US" altLang="ko-KR" sz="900" b="1" dirty="0" smtClean="0">
                <a:solidFill>
                  <a:srgbClr val="1A365D"/>
                </a:solidFill>
                <a:latin typeface="Arial"/>
              </a:rPr>
              <a:t>)</a:t>
            </a:r>
            <a:endParaRPr sz="900" b="1" dirty="0">
              <a:solidFill>
                <a:srgbClr val="1A365D"/>
              </a:solidFill>
              <a:latin typeface="Arial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056632" y="2788920"/>
            <a:ext cx="3831336" cy="21488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56632" y="2907792"/>
            <a:ext cx="3831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Message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193792" y="3172968"/>
            <a:ext cx="355701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950" i="1" dirty="0">
                <a:solidFill>
                  <a:srgbClr val="FFFFFF"/>
                </a:solidFill>
                <a:latin typeface="Arial"/>
              </a:rPr>
              <a:t>흩어져 있던 </a:t>
            </a:r>
            <a:r>
              <a:rPr lang="en-US" altLang="ko-KR" sz="950" i="1" dirty="0">
                <a:solidFill>
                  <a:srgbClr val="FFFFFF"/>
                </a:solidFill>
                <a:latin typeface="Arial"/>
              </a:rPr>
              <a:t>SDLC </a:t>
            </a:r>
            <a:r>
              <a:rPr lang="ko-KR" altLang="en-US" sz="950" i="1" dirty="0">
                <a:solidFill>
                  <a:srgbClr val="FFFFFF"/>
                </a:solidFill>
                <a:latin typeface="Arial"/>
              </a:rPr>
              <a:t>산출물이</a:t>
            </a:r>
            <a:r>
              <a:rPr lang="en-US" altLang="ko-KR" sz="950" i="1" dirty="0">
                <a:solidFill>
                  <a:srgbClr val="FFFFFF"/>
                </a:solidFill>
                <a:latin typeface="Arial"/>
              </a:rPr>
              <a:t>, 13</a:t>
            </a:r>
            <a:r>
              <a:rPr lang="ko-KR" altLang="en-US" sz="950" i="1" dirty="0">
                <a:solidFill>
                  <a:srgbClr val="FFFFFF"/>
                </a:solidFill>
                <a:latin typeface="Arial"/>
              </a:rPr>
              <a:t>개의 </a:t>
            </a:r>
            <a:r>
              <a:rPr lang="en-US" altLang="ko-KR" sz="950" i="1" dirty="0">
                <a:solidFill>
                  <a:srgbClr val="FFFFFF"/>
                </a:solidFill>
                <a:latin typeface="Arial"/>
              </a:rPr>
              <a:t>LLM </a:t>
            </a:r>
            <a:r>
              <a:rPr lang="ko-KR" altLang="en-US" sz="950" i="1" dirty="0">
                <a:solidFill>
                  <a:srgbClr val="FFFFFF"/>
                </a:solidFill>
                <a:latin typeface="Arial"/>
              </a:rPr>
              <a:t>에이전트를 거쳐 </a:t>
            </a:r>
            <a:r>
              <a:rPr lang="ko-KR" altLang="en-US" sz="950" i="1" dirty="0" smtClean="0">
                <a:solidFill>
                  <a:srgbClr val="FFFFFF"/>
                </a:solidFill>
                <a:latin typeface="Arial"/>
              </a:rPr>
              <a:t> </a:t>
            </a:r>
            <a:r>
              <a:rPr lang="en-US" altLang="ko-KR" sz="950" i="1" dirty="0" smtClean="0">
                <a:solidFill>
                  <a:srgbClr val="FFFFFF"/>
                </a:solidFill>
                <a:latin typeface="Arial"/>
              </a:rPr>
              <a:t/>
            </a:r>
            <a:br>
              <a:rPr lang="en-US" altLang="ko-KR" sz="950" i="1" dirty="0" smtClean="0">
                <a:solidFill>
                  <a:srgbClr val="FFFFFF"/>
                </a:solidFill>
                <a:latin typeface="Arial"/>
              </a:rPr>
            </a:br>
            <a:r>
              <a:rPr lang="ko-KR" altLang="en-US" sz="950" i="1" dirty="0" smtClean="0">
                <a:solidFill>
                  <a:srgbClr val="FFFFFF"/>
                </a:solidFill>
                <a:latin typeface="Arial"/>
              </a:rPr>
              <a:t>하나의 통합된 위키로 자동 재구성됩니다</a:t>
            </a:r>
            <a:r>
              <a:rPr lang="en-US" altLang="ko-KR" sz="950" i="1" dirty="0" smtClean="0">
                <a:solidFill>
                  <a:srgbClr val="FFFFFF"/>
                </a:solidFill>
                <a:latin typeface="Arial"/>
              </a:rPr>
              <a:t>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4270248"/>
          </a:xfrm>
          <a:prstGeom prst="rect">
            <a:avLst/>
          </a:prstGeom>
          <a:solidFill>
            <a:srgbClr val="F5F5F5"/>
          </a:solidFill>
          <a:ln w="12700">
            <a:solidFill>
              <a:srgbClr val="999999"/>
            </a:solidFill>
            <a:prstDash val="sysDash"/>
          </a:ln>
        </p:spPr>
      </p:sp>
      <p:sp>
        <p:nvSpPr>
          <p:cNvPr id="11" name="Text 9"/>
          <p:cNvSpPr/>
          <p:nvPr/>
        </p:nvSpPr>
        <p:spPr>
          <a:xfrm>
            <a:off x="5056632" y="667512"/>
            <a:ext cx="38313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 고려 사항 </a:t>
            </a:r>
            <a:r>
              <a:rPr lang="en-US" altLang="ko-KR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br>
              <a:rPr lang="en-US" altLang="ko-KR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ko-KR" alt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 구성에 대한 핵심 결정 사항을 중심으로 설명하세요 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56632" y="1005840"/>
            <a:ext cx="3831336" cy="1249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56632" y="1005840"/>
            <a:ext cx="54864" cy="124968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495544" y="109728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50" b="1">
                <a:solidFill>
                  <a:srgbClr val="1A365D"/>
                </a:solidFill>
                <a:latin typeface="Arial"/>
              </a:rPr>
              <a:t>LangGraph + per-run SSE 이벤트 버스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84648" y="139903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50" b="1" dirty="0" err="1">
                <a:solidFill>
                  <a:srgbClr val="333333"/>
                </a:solidFill>
                <a:latin typeface="Arial"/>
              </a:rPr>
              <a:t>선택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50" b="1" dirty="0" err="1">
                <a:solidFill>
                  <a:srgbClr val="333333"/>
                </a:solidFill>
                <a:latin typeface="Arial"/>
              </a:rPr>
              <a:t>이유</a:t>
            </a:r>
            <a:endParaRPr lang="en-US" sz="850" dirty="0"/>
          </a:p>
          <a:p>
            <a:r>
              <a:rPr sz="850" b="1" dirty="0" err="1">
                <a:solidFill>
                  <a:srgbClr val="333333"/>
                </a:solidFill>
                <a:latin typeface="Arial"/>
              </a:rPr>
              <a:t>조건부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50" b="1" dirty="0" err="1">
                <a:solidFill>
                  <a:srgbClr val="333333"/>
                </a:solidFill>
                <a:latin typeface="Arial"/>
              </a:rPr>
              <a:t>엣지로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 verify </a:t>
            </a:r>
            <a:r>
              <a:rPr lang="en-US" sz="850" b="1" dirty="0" smtClean="0">
                <a:solidFill>
                  <a:srgbClr val="333333"/>
                </a:solidFill>
                <a:latin typeface="Arial"/>
              </a:rPr>
              <a:t>&amp; </a:t>
            </a:r>
            <a:r>
              <a:rPr sz="850" b="1" dirty="0" smtClean="0">
                <a:solidFill>
                  <a:srgbClr val="333333"/>
                </a:solidFill>
                <a:latin typeface="Arial"/>
              </a:rPr>
              <a:t>merge </a:t>
            </a:r>
            <a:r>
              <a:rPr sz="850" b="1" dirty="0" err="1">
                <a:solidFill>
                  <a:srgbClr val="333333"/>
                </a:solidFill>
                <a:latin typeface="Arial"/>
              </a:rPr>
              <a:t>피드백과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 decompose </a:t>
            </a:r>
            <a:r>
              <a:rPr sz="850" b="1" dirty="0" err="1">
                <a:solidFill>
                  <a:srgbClr val="333333"/>
                </a:solidFill>
                <a:latin typeface="Arial"/>
              </a:rPr>
              <a:t>분기를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 한 </a:t>
            </a:r>
            <a:r>
              <a:rPr sz="850" b="1" dirty="0" err="1">
                <a:solidFill>
                  <a:srgbClr val="333333"/>
                </a:solidFill>
                <a:latin typeface="Arial"/>
              </a:rPr>
              <a:t>그래프에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50" b="1" dirty="0" err="1">
                <a:solidFill>
                  <a:srgbClr val="333333"/>
                </a:solidFill>
                <a:latin typeface="Arial"/>
              </a:rPr>
              <a:t>그릴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 수 </a:t>
            </a:r>
            <a:r>
              <a:rPr sz="850" b="1" dirty="0" err="1">
                <a:solidFill>
                  <a:srgbClr val="333333"/>
                </a:solidFill>
                <a:latin typeface="Arial"/>
              </a:rPr>
              <a:t>있어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50" b="1" dirty="0" err="1">
                <a:solidFill>
                  <a:srgbClr val="333333"/>
                </a:solidFill>
                <a:latin typeface="Arial"/>
              </a:rPr>
              <a:t>ReAct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/Chain </a:t>
            </a:r>
            <a:r>
              <a:rPr sz="850" b="1" dirty="0" err="1">
                <a:solidFill>
                  <a:srgbClr val="333333"/>
                </a:solidFill>
                <a:latin typeface="Arial"/>
              </a:rPr>
              <a:t>한계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50" b="1" dirty="0" err="1">
                <a:solidFill>
                  <a:srgbClr val="333333"/>
                </a:solidFill>
                <a:latin typeface="Arial"/>
              </a:rPr>
              <a:t>극복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.</a:t>
            </a:r>
          </a:p>
          <a:p>
            <a:endParaRPr sz="850" b="1" dirty="0">
              <a:solidFill>
                <a:srgbClr val="333333"/>
              </a:solidFill>
              <a:latin typeface="Arial"/>
            </a:endParaRPr>
          </a:p>
          <a:p>
            <a:r>
              <a:rPr sz="850" b="1" dirty="0" err="1">
                <a:solidFill>
                  <a:srgbClr val="333333"/>
                </a:solidFill>
                <a:latin typeface="Arial"/>
              </a:rPr>
              <a:t>핵심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50" b="1" dirty="0" err="1">
                <a:solidFill>
                  <a:srgbClr val="333333"/>
                </a:solidFill>
                <a:latin typeface="Arial"/>
              </a:rPr>
              <a:t>활용</a:t>
            </a:r>
            <a:endParaRPr sz="850" b="1" dirty="0">
              <a:solidFill>
                <a:srgbClr val="333333"/>
              </a:solidFill>
              <a:latin typeface="Arial"/>
            </a:endParaRPr>
          </a:p>
          <a:p>
            <a:r>
              <a:rPr sz="850" b="1" dirty="0">
                <a:solidFill>
                  <a:srgbClr val="333333"/>
                </a:solidFill>
                <a:latin typeface="Arial"/>
              </a:rPr>
              <a:t>per-run SSE </a:t>
            </a:r>
            <a:r>
              <a:rPr lang="en-US" altLang="ko-KR" sz="850" b="1" dirty="0" smtClean="0">
                <a:solidFill>
                  <a:srgbClr val="333333"/>
                </a:solidFill>
                <a:latin typeface="Arial"/>
              </a:rPr>
              <a:t>&gt;</a:t>
            </a:r>
            <a:r>
              <a:rPr sz="850" b="1" dirty="0" smtClean="0">
                <a:solidFill>
                  <a:srgbClr val="333333"/>
                </a:solidFill>
                <a:latin typeface="Arial"/>
              </a:rPr>
              <a:t> 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React Flow </a:t>
            </a:r>
            <a:r>
              <a:rPr sz="850" b="1" dirty="0" err="1">
                <a:solidFill>
                  <a:srgbClr val="333333"/>
                </a:solidFill>
                <a:latin typeface="Arial"/>
              </a:rPr>
              <a:t>실시간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50" b="1" dirty="0" err="1">
                <a:solidFill>
                  <a:srgbClr val="333333"/>
                </a:solidFill>
                <a:latin typeface="Arial"/>
              </a:rPr>
              <a:t>점등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. </a:t>
            </a:r>
            <a:r>
              <a:rPr sz="850" b="1" dirty="0" err="1">
                <a:solidFill>
                  <a:srgbClr val="333333"/>
                </a:solidFill>
                <a:latin typeface="Arial"/>
              </a:rPr>
              <a:t>디버깅·시연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50" b="1" dirty="0" err="1">
                <a:solidFill>
                  <a:srgbClr val="333333"/>
                </a:solidFill>
                <a:latin typeface="Arial"/>
              </a:rPr>
              <a:t>동시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.</a:t>
            </a:r>
          </a:p>
        </p:txBody>
      </p:sp>
      <p:sp>
        <p:nvSpPr>
          <p:cNvPr id="18" name="Shape 16"/>
          <p:cNvSpPr/>
          <p:nvPr/>
        </p:nvSpPr>
        <p:spPr>
          <a:xfrm>
            <a:off x="5056632" y="2346960"/>
            <a:ext cx="3831336" cy="1249680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56632" y="2346960"/>
            <a:ext cx="54864" cy="1249680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495544" y="243840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50" b="1">
                <a:solidFill>
                  <a:srgbClr val="1A365D"/>
                </a:solidFill>
                <a:latin typeface="Arial"/>
              </a:rPr>
              <a:t>RAG + Chroma + 하이브리드 검색 (BM25 + 벡터 RRF)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84648" y="274015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50" b="1" dirty="0" err="1">
                <a:solidFill>
                  <a:srgbClr val="333333"/>
                </a:solidFill>
                <a:latin typeface="Arial"/>
              </a:rPr>
              <a:t>선택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50" b="1" dirty="0" err="1">
                <a:solidFill>
                  <a:srgbClr val="333333"/>
                </a:solidFill>
                <a:latin typeface="Arial"/>
              </a:rPr>
              <a:t>이유</a:t>
            </a:r>
            <a:endParaRPr lang="en-US" sz="850" dirty="0"/>
          </a:p>
          <a:p>
            <a:r>
              <a:rPr sz="850" b="1" dirty="0">
                <a:solidFill>
                  <a:srgbClr val="333333"/>
                </a:solidFill>
                <a:latin typeface="Arial"/>
              </a:rPr>
              <a:t>Fine-tuning </a:t>
            </a:r>
            <a:r>
              <a:rPr sz="850" b="1" dirty="0" err="1">
                <a:solidFill>
                  <a:srgbClr val="333333"/>
                </a:solidFill>
                <a:latin typeface="Arial"/>
              </a:rPr>
              <a:t>없이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50" b="1" dirty="0" err="1">
                <a:solidFill>
                  <a:srgbClr val="333333"/>
                </a:solidFill>
                <a:latin typeface="Arial"/>
              </a:rPr>
              <a:t>본문을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50" b="1" dirty="0" err="1">
                <a:solidFill>
                  <a:srgbClr val="333333"/>
                </a:solidFill>
                <a:latin typeface="Arial"/>
              </a:rPr>
              <a:t>그대로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50" b="1" dirty="0" err="1">
                <a:solidFill>
                  <a:srgbClr val="333333"/>
                </a:solidFill>
                <a:latin typeface="Arial"/>
              </a:rPr>
              <a:t>근거로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50" b="1" dirty="0" err="1">
                <a:solidFill>
                  <a:srgbClr val="333333"/>
                </a:solidFill>
                <a:latin typeface="Arial"/>
              </a:rPr>
              <a:t>활용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. Chroma </a:t>
            </a:r>
            <a:r>
              <a:rPr sz="850" b="1" dirty="0" err="1">
                <a:solidFill>
                  <a:srgbClr val="333333"/>
                </a:solidFill>
                <a:latin typeface="Arial"/>
              </a:rPr>
              <a:t>임베딩과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 BM25를 </a:t>
            </a:r>
            <a:r>
              <a:rPr sz="850" b="1" dirty="0" err="1">
                <a:solidFill>
                  <a:srgbClr val="333333"/>
                </a:solidFill>
                <a:latin typeface="Arial"/>
              </a:rPr>
              <a:t>RRF로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50" b="1" dirty="0" err="1">
                <a:solidFill>
                  <a:srgbClr val="333333"/>
                </a:solidFill>
                <a:latin typeface="Arial"/>
              </a:rPr>
              <a:t>융합해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50" b="1" dirty="0" err="1">
                <a:solidFill>
                  <a:srgbClr val="333333"/>
                </a:solidFill>
                <a:latin typeface="Arial"/>
              </a:rPr>
              <a:t>키워드·의미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50" b="1" dirty="0" err="1">
                <a:solidFill>
                  <a:srgbClr val="333333"/>
                </a:solidFill>
                <a:latin typeface="Arial"/>
              </a:rPr>
              <a:t>동시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50" b="1" dirty="0" err="1">
                <a:solidFill>
                  <a:srgbClr val="333333"/>
                </a:solidFill>
                <a:latin typeface="Arial"/>
              </a:rPr>
              <a:t>검색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.</a:t>
            </a:r>
          </a:p>
          <a:p>
            <a:endParaRPr sz="850" b="1" dirty="0">
              <a:solidFill>
                <a:srgbClr val="333333"/>
              </a:solidFill>
              <a:latin typeface="Arial"/>
            </a:endParaRPr>
          </a:p>
          <a:p>
            <a:r>
              <a:rPr sz="850" b="1" dirty="0" err="1">
                <a:solidFill>
                  <a:srgbClr val="333333"/>
                </a:solidFill>
                <a:latin typeface="Arial"/>
              </a:rPr>
              <a:t>핵심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850" b="1" dirty="0" err="1">
                <a:solidFill>
                  <a:srgbClr val="333333"/>
                </a:solidFill>
                <a:latin typeface="Arial"/>
              </a:rPr>
              <a:t>성과</a:t>
            </a:r>
            <a:endParaRPr sz="850" b="1" dirty="0">
              <a:solidFill>
                <a:srgbClr val="333333"/>
              </a:solidFill>
              <a:latin typeface="Arial"/>
            </a:endParaRPr>
          </a:p>
          <a:p>
            <a:r>
              <a:rPr sz="850" b="1" dirty="0" err="1">
                <a:solidFill>
                  <a:srgbClr val="333333"/>
                </a:solidFill>
                <a:latin typeface="Arial"/>
              </a:rPr>
              <a:t>벡터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 + LLM judge 2단계 </a:t>
            </a:r>
            <a:r>
              <a:rPr sz="850" b="1" dirty="0" err="1">
                <a:solidFill>
                  <a:srgbClr val="333333"/>
                </a:solidFill>
                <a:latin typeface="Arial"/>
              </a:rPr>
              <a:t>판정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US" altLang="ko-KR" sz="850" b="1" dirty="0" smtClean="0">
                <a:solidFill>
                  <a:srgbClr val="333333"/>
                </a:solidFill>
                <a:latin typeface="Arial"/>
              </a:rPr>
              <a:t>&gt;</a:t>
            </a:r>
            <a:r>
              <a:rPr sz="850" b="1" dirty="0" smtClean="0">
                <a:solidFill>
                  <a:srgbClr val="333333"/>
                </a:solidFill>
                <a:latin typeface="Arial"/>
              </a:rPr>
              <a:t> 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false-positive 0건, </a:t>
            </a:r>
            <a:r>
              <a:rPr sz="850" b="1" dirty="0" err="1">
                <a:solidFill>
                  <a:srgbClr val="333333"/>
                </a:solidFill>
                <a:latin typeface="Arial"/>
              </a:rPr>
              <a:t>커버리지</a:t>
            </a:r>
            <a:r>
              <a:rPr sz="850" b="1" dirty="0">
                <a:solidFill>
                  <a:srgbClr val="333333"/>
                </a:solidFill>
                <a:latin typeface="Arial"/>
              </a:rPr>
              <a:t> 100%.</a:t>
            </a:r>
          </a:p>
        </p:txBody>
      </p:sp>
      <p:sp>
        <p:nvSpPr>
          <p:cNvPr id="24" name="Shape 22"/>
          <p:cNvSpPr/>
          <p:nvPr/>
        </p:nvSpPr>
        <p:spPr>
          <a:xfrm>
            <a:off x="5056632" y="3688080"/>
            <a:ext cx="3831336" cy="124968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56632" y="3688080"/>
            <a:ext cx="54864" cy="1249680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495544" y="377952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50" b="1">
                <a:solidFill>
                  <a:srgbClr val="1A365D"/>
                </a:solidFill>
                <a:latin typeface="Arial"/>
              </a:rPr>
              <a:t>지식 그래프 자동 구축 (9종 엣지 + 신뢰도)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84648" y="408127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00" b="1" dirty="0" err="1">
                <a:solidFill>
                  <a:srgbClr val="333333"/>
                </a:solidFill>
                <a:latin typeface="Arial"/>
              </a:rPr>
              <a:t>선택</a:t>
            </a:r>
            <a:r>
              <a:rPr sz="7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700" b="1" dirty="0" err="1">
                <a:solidFill>
                  <a:srgbClr val="333333"/>
                </a:solidFill>
                <a:latin typeface="Arial"/>
              </a:rPr>
              <a:t>이유</a:t>
            </a:r>
            <a:endParaRPr lang="en-US" sz="700" dirty="0"/>
          </a:p>
          <a:p>
            <a:r>
              <a:rPr lang="en-US" altLang="ko-KR" sz="850" b="1" dirty="0" err="1">
                <a:solidFill>
                  <a:srgbClr val="333333"/>
                </a:solidFill>
                <a:latin typeface="Arial"/>
              </a:rPr>
              <a:t>wikilink</a:t>
            </a:r>
            <a:r>
              <a:rPr lang="en-US" altLang="ko-KR" sz="850"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ko-KR" altLang="en-US" sz="850" b="1" dirty="0">
                <a:solidFill>
                  <a:srgbClr val="333333"/>
                </a:solidFill>
                <a:latin typeface="Arial"/>
              </a:rPr>
              <a:t>단독으로는 페이지 관계의 의미가 표현되지 않음</a:t>
            </a:r>
            <a:r>
              <a:rPr lang="en-US" altLang="ko-KR" sz="850" b="1" dirty="0">
                <a:solidFill>
                  <a:srgbClr val="333333"/>
                </a:solidFill>
                <a:latin typeface="Arial"/>
              </a:rPr>
              <a:t>. 9</a:t>
            </a:r>
            <a:r>
              <a:rPr lang="ko-KR" altLang="en-US" sz="850" b="1" dirty="0">
                <a:solidFill>
                  <a:srgbClr val="333333"/>
                </a:solidFill>
                <a:latin typeface="Arial"/>
              </a:rPr>
              <a:t>종  </a:t>
            </a:r>
            <a:r>
              <a:rPr lang="ko-KR" altLang="en-US" sz="850" b="1" dirty="0" err="1">
                <a:solidFill>
                  <a:srgbClr val="333333"/>
                </a:solidFill>
                <a:latin typeface="Arial"/>
              </a:rPr>
              <a:t>엣지</a:t>
            </a:r>
            <a:r>
              <a:rPr lang="ko-KR" altLang="en-US" sz="850" b="1" dirty="0">
                <a:solidFill>
                  <a:srgbClr val="333333"/>
                </a:solidFill>
                <a:latin typeface="Arial"/>
              </a:rPr>
              <a:t> 타입 </a:t>
            </a:r>
            <a:r>
              <a:rPr lang="en-US" altLang="ko-KR" sz="850" b="1" dirty="0">
                <a:solidFill>
                  <a:srgbClr val="333333"/>
                </a:solidFill>
                <a:latin typeface="Arial"/>
              </a:rPr>
              <a:t>+ </a:t>
            </a:r>
            <a:r>
              <a:rPr lang="ko-KR" altLang="en-US" sz="850" b="1" dirty="0">
                <a:solidFill>
                  <a:srgbClr val="333333"/>
                </a:solidFill>
                <a:latin typeface="Arial"/>
              </a:rPr>
              <a:t>상</a:t>
            </a:r>
            <a:r>
              <a:rPr lang="en-US" altLang="ko-KR" sz="850" b="1" dirty="0">
                <a:solidFill>
                  <a:srgbClr val="333333"/>
                </a:solidFill>
                <a:latin typeface="Arial"/>
              </a:rPr>
              <a:t>·</a:t>
            </a:r>
            <a:r>
              <a:rPr lang="ko-KR" altLang="en-US" sz="850" b="1" dirty="0">
                <a:solidFill>
                  <a:srgbClr val="333333"/>
                </a:solidFill>
                <a:latin typeface="Arial"/>
              </a:rPr>
              <a:t>중</a:t>
            </a:r>
            <a:r>
              <a:rPr lang="en-US" altLang="ko-KR" sz="850" b="1" dirty="0">
                <a:solidFill>
                  <a:srgbClr val="333333"/>
                </a:solidFill>
                <a:latin typeface="Arial"/>
              </a:rPr>
              <a:t>·</a:t>
            </a:r>
            <a:r>
              <a:rPr lang="ko-KR" altLang="en-US" sz="850" b="1" dirty="0">
                <a:solidFill>
                  <a:srgbClr val="333333"/>
                </a:solidFill>
                <a:latin typeface="Arial"/>
              </a:rPr>
              <a:t>하 신뢰도로 관계를 구조화</a:t>
            </a:r>
            <a:r>
              <a:rPr lang="en-US" altLang="ko-KR" sz="850" b="1" dirty="0">
                <a:solidFill>
                  <a:srgbClr val="333333"/>
                </a:solidFill>
                <a:latin typeface="Arial"/>
              </a:rPr>
              <a:t>.</a:t>
            </a:r>
            <a:endParaRPr sz="850" b="1" dirty="0">
              <a:solidFill>
                <a:srgbClr val="333333"/>
              </a:solidFill>
              <a:latin typeface="Arial"/>
            </a:endParaRPr>
          </a:p>
          <a:p>
            <a:r>
              <a:rPr sz="700" b="1" dirty="0" err="1">
                <a:solidFill>
                  <a:srgbClr val="333333"/>
                </a:solidFill>
                <a:latin typeface="Arial"/>
              </a:rPr>
              <a:t>구현</a:t>
            </a:r>
            <a:r>
              <a:rPr sz="7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700" b="1" dirty="0" err="1">
                <a:solidFill>
                  <a:srgbClr val="333333"/>
                </a:solidFill>
                <a:latin typeface="Arial"/>
              </a:rPr>
              <a:t>포인트</a:t>
            </a:r>
            <a:endParaRPr sz="700" b="1" dirty="0">
              <a:solidFill>
                <a:srgbClr val="333333"/>
              </a:solidFill>
              <a:latin typeface="Arial"/>
            </a:endParaRPr>
          </a:p>
          <a:p>
            <a:r>
              <a:rPr lang="ko-KR" altLang="en-US" sz="850"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US" altLang="ko-KR" sz="850" b="1" dirty="0" err="1">
                <a:solidFill>
                  <a:srgbClr val="333333"/>
                </a:solidFill>
                <a:latin typeface="Arial"/>
              </a:rPr>
              <a:t>crossref</a:t>
            </a:r>
            <a:r>
              <a:rPr lang="en-US" altLang="ko-KR" sz="850" b="1" dirty="0">
                <a:solidFill>
                  <a:srgbClr val="333333"/>
                </a:solidFill>
                <a:latin typeface="Arial"/>
              </a:rPr>
              <a:t> Agent</a:t>
            </a:r>
            <a:r>
              <a:rPr lang="ko-KR" altLang="en-US" sz="850" b="1" dirty="0">
                <a:solidFill>
                  <a:srgbClr val="333333"/>
                </a:solidFill>
                <a:latin typeface="Arial"/>
              </a:rPr>
              <a:t>가 </a:t>
            </a:r>
            <a:r>
              <a:rPr lang="en-US" altLang="ko-KR" sz="850" b="1" dirty="0">
                <a:solidFill>
                  <a:srgbClr val="333333"/>
                </a:solidFill>
                <a:latin typeface="Arial"/>
              </a:rPr>
              <a:t>LLM </a:t>
            </a:r>
            <a:r>
              <a:rPr lang="ko-KR" altLang="en-US" sz="850" b="1" dirty="0">
                <a:solidFill>
                  <a:srgbClr val="333333"/>
                </a:solidFill>
                <a:latin typeface="Arial"/>
              </a:rPr>
              <a:t>단일 호출로 관계 타입</a:t>
            </a:r>
            <a:r>
              <a:rPr lang="en-US" altLang="ko-KR" sz="850" b="1" dirty="0">
                <a:solidFill>
                  <a:srgbClr val="333333"/>
                </a:solidFill>
                <a:latin typeface="Arial"/>
              </a:rPr>
              <a:t>·</a:t>
            </a:r>
            <a:r>
              <a:rPr lang="ko-KR" altLang="en-US" sz="850" b="1" dirty="0">
                <a:solidFill>
                  <a:srgbClr val="333333"/>
                </a:solidFill>
                <a:latin typeface="Arial"/>
              </a:rPr>
              <a:t>신뢰도</a:t>
            </a:r>
            <a:r>
              <a:rPr lang="en-US" altLang="ko-KR" sz="850" b="1" dirty="0">
                <a:solidFill>
                  <a:srgbClr val="333333"/>
                </a:solidFill>
                <a:latin typeface="Arial"/>
              </a:rPr>
              <a:t>·</a:t>
            </a:r>
            <a:r>
              <a:rPr lang="ko-KR" altLang="en-US" sz="850" b="1" dirty="0">
                <a:solidFill>
                  <a:srgbClr val="333333"/>
                </a:solidFill>
                <a:latin typeface="Arial"/>
              </a:rPr>
              <a:t>근거를 </a:t>
            </a:r>
            <a:r>
              <a:rPr lang="ko-KR" altLang="en-US" sz="850" b="1" dirty="0">
                <a:solidFill>
                  <a:srgbClr val="333333"/>
                </a:solidFill>
                <a:latin typeface="Arial"/>
              </a:rPr>
              <a:t>동시 산출</a:t>
            </a:r>
            <a:r>
              <a:rPr lang="en-US" altLang="ko-KR" sz="850" b="1" dirty="0">
                <a:solidFill>
                  <a:srgbClr val="333333"/>
                </a:solidFill>
                <a:latin typeface="Arial"/>
              </a:rPr>
              <a:t>. 5</a:t>
            </a:r>
            <a:r>
              <a:rPr lang="ko-KR" altLang="en-US" sz="850" b="1" dirty="0">
                <a:solidFill>
                  <a:srgbClr val="333333"/>
                </a:solidFill>
                <a:latin typeface="Arial"/>
              </a:rPr>
              <a:t>단 </a:t>
            </a:r>
            <a:r>
              <a:rPr lang="en-US" altLang="ko-KR" sz="850" b="1" dirty="0">
                <a:solidFill>
                  <a:srgbClr val="333333"/>
                </a:solidFill>
                <a:latin typeface="Arial"/>
              </a:rPr>
              <a:t>evidence (</a:t>
            </a:r>
            <a:r>
              <a:rPr lang="ko-KR" altLang="en-US" sz="850" b="1" dirty="0">
                <a:solidFill>
                  <a:srgbClr val="333333"/>
                </a:solidFill>
                <a:latin typeface="Arial"/>
              </a:rPr>
              <a:t>요약</a:t>
            </a:r>
            <a:r>
              <a:rPr lang="en-US" altLang="ko-KR" sz="850" b="1" dirty="0">
                <a:solidFill>
                  <a:srgbClr val="333333"/>
                </a:solidFill>
                <a:latin typeface="Arial"/>
              </a:rPr>
              <a:t>·</a:t>
            </a:r>
            <a:r>
              <a:rPr lang="ko-KR" altLang="en-US" sz="850" b="1" dirty="0">
                <a:solidFill>
                  <a:srgbClr val="333333"/>
                </a:solidFill>
                <a:latin typeface="Arial"/>
              </a:rPr>
              <a:t>사유</a:t>
            </a:r>
            <a:r>
              <a:rPr lang="en-US" altLang="ko-KR" sz="850" b="1" dirty="0">
                <a:solidFill>
                  <a:srgbClr val="333333"/>
                </a:solidFill>
                <a:latin typeface="Arial"/>
              </a:rPr>
              <a:t>·</a:t>
            </a:r>
            <a:r>
              <a:rPr lang="ko-KR" altLang="en-US" sz="850" b="1" dirty="0">
                <a:solidFill>
                  <a:srgbClr val="333333"/>
                </a:solidFill>
                <a:latin typeface="Arial"/>
              </a:rPr>
              <a:t>인용</a:t>
            </a:r>
            <a:r>
              <a:rPr lang="en-US" altLang="ko-KR" sz="850" b="1" dirty="0">
                <a:solidFill>
                  <a:srgbClr val="333333"/>
                </a:solidFill>
                <a:latin typeface="Arial"/>
              </a:rPr>
              <a:t>·</a:t>
            </a:r>
            <a:r>
              <a:rPr lang="ko-KR" altLang="en-US" sz="850" b="1" dirty="0">
                <a:solidFill>
                  <a:srgbClr val="333333"/>
                </a:solidFill>
                <a:latin typeface="Arial"/>
              </a:rPr>
              <a:t>공유 개념</a:t>
            </a:r>
            <a:r>
              <a:rPr lang="en-US" altLang="ko-KR" sz="850" b="1" dirty="0">
                <a:solidFill>
                  <a:srgbClr val="333333"/>
                </a:solidFill>
                <a:latin typeface="Arial"/>
              </a:rPr>
              <a:t>·</a:t>
            </a:r>
            <a:r>
              <a:rPr lang="ko-KR" altLang="en-US" sz="850" b="1" dirty="0">
                <a:solidFill>
                  <a:srgbClr val="333333"/>
                </a:solidFill>
                <a:latin typeface="Arial"/>
              </a:rPr>
              <a:t>함께 볼 때</a:t>
            </a:r>
            <a:r>
              <a:rPr lang="en-US" altLang="ko-KR" sz="850" b="1" dirty="0">
                <a:solidFill>
                  <a:srgbClr val="333333"/>
                </a:solidFill>
                <a:latin typeface="Arial"/>
              </a:rPr>
              <a:t>)</a:t>
            </a:r>
            <a:r>
              <a:rPr lang="ko-KR" altLang="en-US" sz="850" b="1" dirty="0">
                <a:solidFill>
                  <a:srgbClr val="333333"/>
                </a:solidFill>
                <a:latin typeface="Arial"/>
              </a:rPr>
              <a:t>를 </a:t>
            </a:r>
            <a:r>
              <a:rPr lang="ko-KR" altLang="en-US" sz="850" b="1" dirty="0">
                <a:solidFill>
                  <a:srgbClr val="333333"/>
                </a:solidFill>
                <a:latin typeface="Arial"/>
              </a:rPr>
              <a:t>본문 표와 </a:t>
            </a:r>
            <a:r>
              <a:rPr lang="ko-KR" altLang="en-US" sz="850" b="1" dirty="0">
                <a:solidFill>
                  <a:srgbClr val="333333"/>
                </a:solidFill>
                <a:latin typeface="Arial"/>
              </a:rPr>
              <a:t>그래프에 동시 반영</a:t>
            </a:r>
            <a:r>
              <a:rPr lang="en-US" altLang="ko-KR" sz="850" b="1" dirty="0">
                <a:solidFill>
                  <a:srgbClr val="333333"/>
                </a:solidFill>
                <a:latin typeface="Arial"/>
              </a:rPr>
              <a:t>.</a:t>
            </a:r>
            <a:endParaRPr sz="850" b="1" dirty="0">
              <a:solidFill>
                <a:srgbClr val="333333"/>
              </a:solidFill>
              <a:latin typeface="Arial"/>
            </a:endParaRPr>
          </a:p>
        </p:txBody>
      </p:sp>
      <p:pic>
        <p:nvPicPr>
          <p:cNvPr id="30" name="Picture 29" descr="arch-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538" y="1223586"/>
            <a:ext cx="4104933" cy="33934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과제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8631936" cy="98755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758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난제 (Hurdle)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0624" y="987552"/>
            <a:ext cx="8302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900" dirty="0" err="1">
                <a:solidFill>
                  <a:srgbClr val="FFFFFF"/>
                </a:solidFill>
                <a:latin typeface="Arial"/>
              </a:rPr>
              <a:t>RAG·ReAct</a:t>
            </a:r>
            <a:r>
              <a:rPr lang="en-US" altLang="ko-KR" sz="900" dirty="0">
                <a:solidFill>
                  <a:srgbClr val="FFFFFF"/>
                </a:solidFill>
                <a:latin typeface="Arial"/>
              </a:rPr>
              <a:t> </a:t>
            </a:r>
            <a:r>
              <a:rPr lang="ko-KR" altLang="en-US" sz="900" dirty="0">
                <a:solidFill>
                  <a:srgbClr val="FFFFFF"/>
                </a:solidFill>
                <a:latin typeface="Arial"/>
              </a:rPr>
              <a:t>단독 패턴으로는 </a:t>
            </a:r>
            <a:r>
              <a:rPr lang="en-US" altLang="ko-KR" sz="900" dirty="0">
                <a:solidFill>
                  <a:srgbClr val="FFFFFF"/>
                </a:solidFill>
                <a:latin typeface="Arial"/>
              </a:rPr>
              <a:t>SDLC </a:t>
            </a:r>
            <a:r>
              <a:rPr lang="ko-KR" altLang="en-US" sz="900" dirty="0">
                <a:solidFill>
                  <a:srgbClr val="FFFFFF"/>
                </a:solidFill>
                <a:latin typeface="Arial"/>
              </a:rPr>
              <a:t>산출물의 중복</a:t>
            </a:r>
            <a:r>
              <a:rPr lang="en-US" altLang="ko-KR" sz="900" dirty="0">
                <a:solidFill>
                  <a:srgbClr val="FFFFFF"/>
                </a:solidFill>
                <a:latin typeface="Arial"/>
              </a:rPr>
              <a:t>·</a:t>
            </a:r>
            <a:r>
              <a:rPr lang="ko-KR" altLang="en-US" sz="900" dirty="0">
                <a:solidFill>
                  <a:srgbClr val="FFFFFF"/>
                </a:solidFill>
                <a:latin typeface="Arial"/>
              </a:rPr>
              <a:t>모순을 </a:t>
            </a:r>
            <a:r>
              <a:rPr lang="ko-KR" altLang="en-US" sz="900" dirty="0" smtClean="0">
                <a:solidFill>
                  <a:srgbClr val="FFFFFF"/>
                </a:solidFill>
                <a:latin typeface="Arial"/>
              </a:rPr>
              <a:t>구조적으로 해소할 </a:t>
            </a:r>
            <a:r>
              <a:rPr lang="ko-KR" altLang="en-US" sz="900" dirty="0">
                <a:solidFill>
                  <a:srgbClr val="FFFFFF"/>
                </a:solidFill>
                <a:latin typeface="Arial"/>
              </a:rPr>
              <a:t>수 없음</a:t>
            </a:r>
            <a:endParaRPr lang="en-US" sz="900" dirty="0">
              <a:solidFill>
                <a:srgbClr val="FFFFFF"/>
              </a:solidFill>
              <a:latin typeface="Arial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FFFFFF"/>
                </a:solidFill>
                <a:latin typeface="Arial"/>
              </a:rPr>
              <a:t>동일 주제의 반복 </a:t>
            </a:r>
            <a:r>
              <a:rPr lang="ko-KR" altLang="en-US" sz="900" dirty="0" smtClean="0">
                <a:solidFill>
                  <a:srgbClr val="FFFFFF"/>
                </a:solidFill>
                <a:latin typeface="Arial"/>
              </a:rPr>
              <a:t>적재 </a:t>
            </a:r>
            <a:r>
              <a:rPr lang="en-US" altLang="ko-KR" sz="900" dirty="0" smtClean="0">
                <a:solidFill>
                  <a:srgbClr val="FFFFFF"/>
                </a:solidFill>
                <a:latin typeface="Arial"/>
              </a:rPr>
              <a:t>: v1/v2 </a:t>
            </a:r>
            <a:r>
              <a:rPr lang="ko-KR" altLang="en-US" sz="900" dirty="0" err="1">
                <a:solidFill>
                  <a:srgbClr val="FFFFFF"/>
                </a:solidFill>
                <a:latin typeface="Arial"/>
              </a:rPr>
              <a:t>후속본이</a:t>
            </a:r>
            <a:r>
              <a:rPr lang="ko-KR" altLang="en-US" sz="900" dirty="0">
                <a:solidFill>
                  <a:srgbClr val="FFFFFF"/>
                </a:solidFill>
                <a:latin typeface="Arial"/>
              </a:rPr>
              <a:t> 별도 페이지로 분기되거나</a:t>
            </a:r>
            <a:r>
              <a:rPr lang="en-US" altLang="ko-KR" sz="900" dirty="0">
                <a:solidFill>
                  <a:srgbClr val="FFFFFF"/>
                </a:solidFill>
                <a:latin typeface="Arial"/>
              </a:rPr>
              <a:t>, </a:t>
            </a:r>
            <a:r>
              <a:rPr lang="ko-KR" altLang="en-US" sz="900" dirty="0">
                <a:solidFill>
                  <a:srgbClr val="FFFFFF"/>
                </a:solidFill>
                <a:latin typeface="Arial"/>
              </a:rPr>
              <a:t>일괄 병합 </a:t>
            </a:r>
            <a:r>
              <a:rPr lang="ko-KR" altLang="en-US" sz="900" dirty="0" smtClean="0">
                <a:solidFill>
                  <a:srgbClr val="FFFFFF"/>
                </a:solidFill>
                <a:latin typeface="Arial"/>
              </a:rPr>
              <a:t>과정에서 정보 </a:t>
            </a:r>
            <a:r>
              <a:rPr lang="ko-KR" altLang="en-US" sz="900" dirty="0">
                <a:solidFill>
                  <a:srgbClr val="FFFFFF"/>
                </a:solidFill>
                <a:latin typeface="Arial"/>
              </a:rPr>
              <a:t>손실 발생</a:t>
            </a:r>
            <a:r>
              <a:rPr sz="900" dirty="0" smtClean="0">
                <a:solidFill>
                  <a:srgbClr val="FFFFFF"/>
                </a:solidFill>
                <a:latin typeface="Arial"/>
              </a:rPr>
              <a:t>· </a:t>
            </a:r>
            <a:endParaRPr lang="en-US" sz="900" dirty="0" smtClean="0">
              <a:solidFill>
                <a:srgbClr val="FFFFFF"/>
              </a:solidFill>
              <a:latin typeface="Arial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dirty="0" err="1">
                <a:solidFill>
                  <a:srgbClr val="FFFFFF"/>
                </a:solidFill>
                <a:latin typeface="Arial"/>
              </a:rPr>
              <a:t>다도메인</a:t>
            </a:r>
            <a:r>
              <a:rPr lang="ko-KR" altLang="en-US" sz="900" dirty="0">
                <a:solidFill>
                  <a:srgbClr val="FFFFFF"/>
                </a:solidFill>
                <a:latin typeface="Arial"/>
              </a:rPr>
              <a:t> 복합 </a:t>
            </a:r>
            <a:r>
              <a:rPr lang="ko-KR" altLang="en-US" sz="900" dirty="0" smtClean="0">
                <a:solidFill>
                  <a:srgbClr val="FFFFFF"/>
                </a:solidFill>
                <a:latin typeface="Arial"/>
              </a:rPr>
              <a:t>문서 </a:t>
            </a:r>
            <a:r>
              <a:rPr lang="en-US" altLang="ko-KR" sz="900" dirty="0" smtClean="0">
                <a:solidFill>
                  <a:srgbClr val="FFFFFF"/>
                </a:solidFill>
                <a:latin typeface="Arial"/>
              </a:rPr>
              <a:t>: </a:t>
            </a:r>
            <a:r>
              <a:rPr lang="ko-KR" altLang="en-US" sz="900" dirty="0" smtClean="0">
                <a:solidFill>
                  <a:srgbClr val="FFFFFF"/>
                </a:solidFill>
                <a:latin typeface="Arial"/>
              </a:rPr>
              <a:t>단일 </a:t>
            </a:r>
            <a:r>
              <a:rPr lang="ko-KR" altLang="en-US" sz="900" dirty="0">
                <a:solidFill>
                  <a:srgbClr val="FFFFFF"/>
                </a:solidFill>
                <a:latin typeface="Arial"/>
              </a:rPr>
              <a:t>페이지로 통합되어 </a:t>
            </a:r>
            <a:r>
              <a:rPr lang="ko-KR" altLang="en-US" sz="900" dirty="0" err="1">
                <a:solidFill>
                  <a:srgbClr val="FFFFFF"/>
                </a:solidFill>
                <a:latin typeface="Arial"/>
              </a:rPr>
              <a:t>도메인별</a:t>
            </a:r>
            <a:r>
              <a:rPr lang="ko-KR" altLang="en-US" sz="900" dirty="0">
                <a:solidFill>
                  <a:srgbClr val="FFFFFF"/>
                </a:solidFill>
                <a:latin typeface="Arial"/>
              </a:rPr>
              <a:t> 검색</a:t>
            </a:r>
            <a:r>
              <a:rPr lang="en-US" altLang="ko-KR" sz="900" dirty="0">
                <a:solidFill>
                  <a:srgbClr val="FFFFFF"/>
                </a:solidFill>
                <a:latin typeface="Arial"/>
              </a:rPr>
              <a:t>·</a:t>
            </a:r>
            <a:r>
              <a:rPr lang="ko-KR" altLang="en-US" sz="900" dirty="0">
                <a:solidFill>
                  <a:srgbClr val="FFFFFF"/>
                </a:solidFill>
                <a:latin typeface="Arial"/>
              </a:rPr>
              <a:t>재사용 정밀도 </a:t>
            </a:r>
            <a:r>
              <a:rPr lang="ko-KR" altLang="en-US" sz="900" dirty="0" smtClean="0">
                <a:solidFill>
                  <a:srgbClr val="FFFFFF"/>
                </a:solidFill>
                <a:latin typeface="Arial"/>
              </a:rPr>
              <a:t>저하</a:t>
            </a:r>
            <a:endParaRPr lang="en-US" sz="900" dirty="0" smtClean="0">
              <a:solidFill>
                <a:srgbClr val="FFFFFF"/>
              </a:solidFill>
              <a:latin typeface="Arial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FFFFFF"/>
                </a:solidFill>
                <a:latin typeface="Arial"/>
              </a:rPr>
              <a:t>벡터 유사도 단독 </a:t>
            </a:r>
            <a:r>
              <a:rPr lang="ko-KR" altLang="en-US" sz="900" dirty="0" smtClean="0">
                <a:solidFill>
                  <a:srgbClr val="FFFFFF"/>
                </a:solidFill>
                <a:latin typeface="Arial"/>
              </a:rPr>
              <a:t>판정 </a:t>
            </a:r>
            <a:r>
              <a:rPr lang="en-US" altLang="ko-KR" sz="900" dirty="0" smtClean="0">
                <a:solidFill>
                  <a:srgbClr val="FFFFFF"/>
                </a:solidFill>
                <a:latin typeface="Arial"/>
              </a:rPr>
              <a:t>: </a:t>
            </a:r>
            <a:r>
              <a:rPr lang="ko-KR" altLang="en-US" sz="900" dirty="0" smtClean="0">
                <a:solidFill>
                  <a:srgbClr val="FFFFFF"/>
                </a:solidFill>
                <a:latin typeface="Arial"/>
              </a:rPr>
              <a:t>거리 </a:t>
            </a:r>
            <a:r>
              <a:rPr lang="ko-KR" altLang="en-US" sz="900" dirty="0">
                <a:solidFill>
                  <a:srgbClr val="FFFFFF"/>
                </a:solidFill>
                <a:latin typeface="Arial"/>
              </a:rPr>
              <a:t>임계값만으로는 의미적 동일성 식별에 </a:t>
            </a:r>
            <a:r>
              <a:rPr lang="ko-KR" altLang="en-US" sz="900" dirty="0" smtClean="0">
                <a:solidFill>
                  <a:srgbClr val="FFFFFF"/>
                </a:solidFill>
                <a:latin typeface="Arial"/>
              </a:rPr>
              <a:t>한계</a:t>
            </a:r>
            <a:r>
              <a:rPr lang="en-US" altLang="ko-KR" sz="900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altLang="ko-KR" sz="900" dirty="0" smtClean="0">
                <a:solidFill>
                  <a:srgbClr val="FFFFFF"/>
                </a:solidFill>
                <a:latin typeface="Arial"/>
              </a:rPr>
              <a:t> </a:t>
            </a:r>
            <a:r>
              <a:rPr lang="en-US" altLang="ko-KR" sz="900" dirty="0">
                <a:solidFill>
                  <a:srgbClr val="FFFFFF"/>
                </a:solidFill>
                <a:latin typeface="Arial"/>
              </a:rPr>
              <a:t>false-positive </a:t>
            </a:r>
            <a:r>
              <a:rPr lang="ko-KR" altLang="en-US" sz="900" dirty="0">
                <a:solidFill>
                  <a:srgbClr val="FFFFFF"/>
                </a:solidFill>
                <a:latin typeface="Arial"/>
              </a:rPr>
              <a:t>합병 발생</a:t>
            </a:r>
            <a:endParaRPr sz="90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256032" y="1764792"/>
            <a:ext cx="4620768" cy="3172968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" y="1764792"/>
            <a:ext cx="54864" cy="3172968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" y="1856232"/>
            <a:ext cx="40416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엔지니어링 접근 방법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2167128"/>
            <a:ext cx="40233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sz="1050" b="1" dirty="0" err="1">
                <a:solidFill>
                  <a:srgbClr val="FF0000"/>
                </a:solidFill>
                <a:latin typeface="Arial"/>
              </a:rPr>
              <a:t>LangGraph</a:t>
            </a:r>
            <a:r>
              <a:rPr sz="1050" b="1" dirty="0">
                <a:solidFill>
                  <a:srgbClr val="FF0000"/>
                </a:solidFill>
                <a:latin typeface="Arial"/>
              </a:rPr>
              <a:t> </a:t>
            </a:r>
            <a:r>
              <a:rPr sz="1050" b="1" dirty="0" err="1" smtClean="0">
                <a:solidFill>
                  <a:srgbClr val="FF0000"/>
                </a:solidFill>
                <a:latin typeface="Arial"/>
              </a:rPr>
              <a:t>노드</a:t>
            </a:r>
            <a:r>
              <a:rPr sz="1050" b="1" dirty="0" smtClean="0">
                <a:solidFill>
                  <a:srgbClr val="FF0000"/>
                </a:solidFill>
                <a:latin typeface="Arial"/>
              </a:rPr>
              <a:t> </a:t>
            </a:r>
            <a:r>
              <a:rPr sz="1050" b="1" dirty="0" err="1">
                <a:solidFill>
                  <a:srgbClr val="FF0000"/>
                </a:solidFill>
                <a:latin typeface="Arial"/>
              </a:rPr>
              <a:t>위에</a:t>
            </a:r>
            <a:r>
              <a:rPr sz="1050" b="1" dirty="0">
                <a:solidFill>
                  <a:srgbClr val="FF0000"/>
                </a:solidFill>
                <a:latin typeface="Arial"/>
              </a:rPr>
              <a:t> </a:t>
            </a:r>
            <a:r>
              <a:rPr sz="1050" b="1" dirty="0" err="1">
                <a:solidFill>
                  <a:srgbClr val="FF0000"/>
                </a:solidFill>
                <a:latin typeface="Arial"/>
              </a:rPr>
              <a:t>다음</a:t>
            </a:r>
            <a:r>
              <a:rPr sz="1050" b="1" dirty="0">
                <a:solidFill>
                  <a:srgbClr val="FF0000"/>
                </a:solidFill>
                <a:latin typeface="Arial"/>
              </a:rPr>
              <a:t> 세 </a:t>
            </a:r>
            <a:r>
              <a:rPr sz="1050" b="1" dirty="0" err="1">
                <a:solidFill>
                  <a:srgbClr val="FF0000"/>
                </a:solidFill>
                <a:latin typeface="Arial"/>
              </a:rPr>
              <a:t>가지</a:t>
            </a:r>
            <a:r>
              <a:rPr sz="1050" b="1" dirty="0">
                <a:solidFill>
                  <a:srgbClr val="FF0000"/>
                </a:solidFill>
                <a:latin typeface="Arial"/>
              </a:rPr>
              <a:t> </a:t>
            </a:r>
            <a:r>
              <a:rPr sz="1050" b="1" dirty="0" err="1">
                <a:solidFill>
                  <a:srgbClr val="FF0000"/>
                </a:solidFill>
                <a:latin typeface="Arial"/>
              </a:rPr>
              <a:t>핵심</a:t>
            </a:r>
            <a:r>
              <a:rPr sz="1050" b="1" dirty="0">
                <a:solidFill>
                  <a:srgbClr val="FF0000"/>
                </a:solidFill>
                <a:latin typeface="Arial"/>
              </a:rPr>
              <a:t> </a:t>
            </a:r>
            <a:r>
              <a:rPr sz="1050" b="1" dirty="0" err="1">
                <a:solidFill>
                  <a:srgbClr val="FF0000"/>
                </a:solidFill>
                <a:latin typeface="Arial"/>
              </a:rPr>
              <a:t>구조를</a:t>
            </a:r>
            <a:r>
              <a:rPr sz="1050" b="1" dirty="0">
                <a:solidFill>
                  <a:srgbClr val="FF0000"/>
                </a:solidFill>
                <a:latin typeface="Arial"/>
              </a:rPr>
              <a:t> </a:t>
            </a:r>
            <a:r>
              <a:rPr sz="1050" b="1" dirty="0" err="1">
                <a:solidFill>
                  <a:srgbClr val="FF0000"/>
                </a:solidFill>
                <a:latin typeface="Arial"/>
              </a:rPr>
              <a:t>설계</a:t>
            </a:r>
            <a:endParaRPr lang="en-US" sz="1050" b="1" dirty="0">
              <a:solidFill>
                <a:srgbClr val="FF0000"/>
              </a:solidFill>
            </a:endParaRPr>
          </a:p>
          <a:p>
            <a:endParaRPr lang="en-US" sz="900" dirty="0"/>
          </a:p>
          <a:p>
            <a:r>
              <a:rPr sz="900" b="1" dirty="0">
                <a:solidFill>
                  <a:srgbClr val="333333"/>
                </a:solidFill>
                <a:latin typeface="Arial"/>
              </a:rPr>
              <a:t>· </a:t>
            </a:r>
            <a:r>
              <a:rPr lang="en-US" sz="1050" b="1" dirty="0">
                <a:solidFill>
                  <a:srgbClr val="333333"/>
                </a:solidFill>
                <a:latin typeface="Arial"/>
              </a:rPr>
              <a:t>V</a:t>
            </a:r>
            <a:r>
              <a:rPr sz="1050" b="1" dirty="0" smtClean="0">
                <a:solidFill>
                  <a:srgbClr val="333333"/>
                </a:solidFill>
                <a:latin typeface="Arial"/>
              </a:rPr>
              <a:t>erify </a:t>
            </a:r>
            <a:r>
              <a:rPr lang="en-US" sz="1050" b="1" dirty="0" smtClean="0">
                <a:solidFill>
                  <a:srgbClr val="333333"/>
                </a:solidFill>
                <a:latin typeface="Arial"/>
              </a:rPr>
              <a:t>&amp;</a:t>
            </a:r>
            <a:r>
              <a:rPr sz="1050" b="1" dirty="0" smtClean="0">
                <a:solidFill>
                  <a:srgbClr val="333333"/>
                </a:solidFill>
                <a:latin typeface="Arial"/>
              </a:rPr>
              <a:t> </a:t>
            </a:r>
            <a:r>
              <a:rPr lang="en-US" sz="1050" b="1" dirty="0">
                <a:solidFill>
                  <a:srgbClr val="333333"/>
                </a:solidFill>
                <a:latin typeface="Arial"/>
              </a:rPr>
              <a:t>M</a:t>
            </a:r>
            <a:r>
              <a:rPr sz="1050" b="1" dirty="0" smtClean="0">
                <a:solidFill>
                  <a:srgbClr val="333333"/>
                </a:solidFill>
                <a:latin typeface="Arial"/>
              </a:rPr>
              <a:t>erge </a:t>
            </a:r>
            <a:r>
              <a:rPr sz="1050" b="1" dirty="0" err="1">
                <a:solidFill>
                  <a:srgbClr val="333333"/>
                </a:solidFill>
                <a:latin typeface="Arial"/>
              </a:rPr>
              <a:t>피드백</a:t>
            </a:r>
            <a:r>
              <a:rPr sz="105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050" b="1" dirty="0" err="1" smtClean="0">
                <a:solidFill>
                  <a:srgbClr val="333333"/>
                </a:solidFill>
                <a:latin typeface="Arial"/>
              </a:rPr>
              <a:t>루프</a:t>
            </a:r>
            <a:endParaRPr lang="en-US" sz="1050" b="1" dirty="0" smtClean="0">
              <a:solidFill>
                <a:srgbClr val="333333"/>
              </a:solidFill>
              <a:latin typeface="Arial"/>
            </a:endParaRPr>
          </a:p>
          <a:p>
            <a:r>
              <a:rPr lang="en-US" altLang="ko-KR" sz="1100"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US" altLang="ko-KR" sz="1100" b="1" dirty="0" smtClean="0">
                <a:solidFill>
                  <a:srgbClr val="333333"/>
                </a:solidFill>
                <a:latin typeface="Arial"/>
              </a:rPr>
              <a:t>  </a:t>
            </a:r>
            <a:r>
              <a:rPr lang="en-US" altLang="ko-KR" sz="900" b="1" dirty="0" smtClean="0">
                <a:solidFill>
                  <a:srgbClr val="333333"/>
                </a:solidFill>
                <a:latin typeface="Arial"/>
              </a:rPr>
              <a:t>1. </a:t>
            </a:r>
            <a:r>
              <a:rPr lang="ko-KR" altLang="en-US" sz="900" b="1" dirty="0" smtClean="0">
                <a:solidFill>
                  <a:srgbClr val="333333"/>
                </a:solidFill>
                <a:latin typeface="Arial"/>
              </a:rPr>
              <a:t>병합 </a:t>
            </a:r>
            <a:r>
              <a:rPr lang="ko-KR" altLang="en-US" sz="900" b="1" dirty="0">
                <a:solidFill>
                  <a:srgbClr val="333333"/>
                </a:solidFill>
                <a:latin typeface="Arial"/>
              </a:rPr>
              <a:t>결과의 커버리지를 </a:t>
            </a:r>
            <a:r>
              <a:rPr lang="en-US" altLang="ko-KR" sz="900" b="1" dirty="0">
                <a:solidFill>
                  <a:srgbClr val="333333"/>
                </a:solidFill>
                <a:latin typeface="Arial"/>
              </a:rPr>
              <a:t>LLM</a:t>
            </a:r>
            <a:r>
              <a:rPr lang="ko-KR" altLang="en-US" sz="900" b="1" dirty="0">
                <a:solidFill>
                  <a:srgbClr val="333333"/>
                </a:solidFill>
                <a:latin typeface="Arial"/>
              </a:rPr>
              <a:t>이 정량 </a:t>
            </a:r>
            <a:r>
              <a:rPr lang="ko-KR" altLang="en-US" sz="900" b="1" dirty="0" smtClean="0">
                <a:solidFill>
                  <a:srgbClr val="333333"/>
                </a:solidFill>
                <a:latin typeface="Arial"/>
              </a:rPr>
              <a:t>평가</a:t>
            </a:r>
            <a:r>
              <a:rPr lang="en-US" altLang="ko-KR" sz="900" b="1" dirty="0" smtClean="0">
                <a:solidFill>
                  <a:srgbClr val="333333"/>
                </a:solidFill>
                <a:latin typeface="Arial"/>
              </a:rPr>
              <a:t>, </a:t>
            </a:r>
            <a:r>
              <a:rPr lang="ko-KR" altLang="en-US" sz="900" b="1" dirty="0" err="1">
                <a:solidFill>
                  <a:srgbClr val="333333"/>
                </a:solidFill>
                <a:latin typeface="Arial"/>
              </a:rPr>
              <a:t>미충족</a:t>
            </a:r>
            <a:r>
              <a:rPr lang="ko-KR" altLang="en-US" sz="900"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ko-KR" altLang="en-US" sz="900" b="1" dirty="0" smtClean="0">
                <a:solidFill>
                  <a:srgbClr val="333333"/>
                </a:solidFill>
                <a:latin typeface="Arial"/>
              </a:rPr>
              <a:t>시 </a:t>
            </a:r>
            <a:r>
              <a:rPr lang="en-US" altLang="ko-KR" sz="900" b="1" dirty="0" smtClean="0">
                <a:solidFill>
                  <a:srgbClr val="333333"/>
                </a:solidFill>
                <a:latin typeface="Arial"/>
              </a:rPr>
              <a:t>conditional </a:t>
            </a:r>
            <a:r>
              <a:rPr lang="en-US" altLang="ko-KR" sz="900" b="1" dirty="0">
                <a:solidFill>
                  <a:srgbClr val="333333"/>
                </a:solidFill>
                <a:latin typeface="Arial"/>
              </a:rPr>
              <a:t>edge</a:t>
            </a:r>
            <a:r>
              <a:rPr lang="ko-KR" altLang="en-US" sz="900" b="1" dirty="0">
                <a:solidFill>
                  <a:srgbClr val="333333"/>
                </a:solidFill>
                <a:latin typeface="Arial"/>
              </a:rPr>
              <a:t>로 </a:t>
            </a:r>
            <a:r>
              <a:rPr lang="ko-KR" altLang="en-US" sz="900" b="1" dirty="0" smtClean="0">
                <a:solidFill>
                  <a:srgbClr val="333333"/>
                </a:solidFill>
                <a:latin typeface="Arial"/>
              </a:rPr>
              <a:t>   </a:t>
            </a:r>
            <a:r>
              <a:rPr lang="en-US" altLang="ko-KR" sz="900" b="1" dirty="0" smtClean="0">
                <a:solidFill>
                  <a:srgbClr val="333333"/>
                </a:solidFill>
                <a:latin typeface="Arial"/>
              </a:rPr>
              <a:t/>
            </a:r>
            <a:br>
              <a:rPr lang="en-US" altLang="ko-KR" sz="900" b="1" dirty="0" smtClean="0">
                <a:solidFill>
                  <a:srgbClr val="333333"/>
                </a:solidFill>
                <a:latin typeface="Arial"/>
              </a:rPr>
            </a:br>
            <a:r>
              <a:rPr lang="en-US" altLang="ko-KR" sz="900" b="1" dirty="0" smtClean="0">
                <a:solidFill>
                  <a:srgbClr val="333333"/>
                </a:solidFill>
                <a:latin typeface="Arial"/>
              </a:rPr>
              <a:t>        merge </a:t>
            </a:r>
            <a:r>
              <a:rPr lang="ko-KR" altLang="en-US" sz="900" b="1" dirty="0" smtClean="0">
                <a:solidFill>
                  <a:srgbClr val="333333"/>
                </a:solidFill>
                <a:latin typeface="Arial"/>
              </a:rPr>
              <a:t>노드에 </a:t>
            </a:r>
            <a:r>
              <a:rPr lang="en-US" altLang="ko-KR" sz="900" b="1" dirty="0">
                <a:solidFill>
                  <a:srgbClr val="333333"/>
                </a:solidFill>
                <a:latin typeface="Arial"/>
              </a:rPr>
              <a:t>1</a:t>
            </a:r>
            <a:r>
              <a:rPr lang="ko-KR" altLang="en-US" sz="900" b="1" dirty="0">
                <a:solidFill>
                  <a:srgbClr val="333333"/>
                </a:solidFill>
                <a:latin typeface="Arial"/>
              </a:rPr>
              <a:t>회 자동 재진입</a:t>
            </a:r>
            <a:r>
              <a:rPr sz="900" b="1" dirty="0" smtClean="0">
                <a:solidFill>
                  <a:srgbClr val="333333"/>
                </a:solidFill>
                <a:latin typeface="Arial"/>
              </a:rPr>
              <a:t>  </a:t>
            </a:r>
            <a:endParaRPr lang="en-US" sz="900" b="1" dirty="0" smtClean="0">
              <a:solidFill>
                <a:srgbClr val="333333"/>
              </a:solidFill>
              <a:latin typeface="Arial"/>
            </a:endParaRPr>
          </a:p>
          <a:p>
            <a:r>
              <a:rPr lang="ko-KR" altLang="en-US" sz="900" b="1" dirty="0" smtClean="0">
                <a:solidFill>
                  <a:srgbClr val="333333"/>
                </a:solidFill>
                <a:latin typeface="Arial"/>
              </a:rPr>
              <a:t>    </a:t>
            </a:r>
            <a:r>
              <a:rPr lang="en-US" altLang="ko-KR" sz="900" b="1" dirty="0" smtClean="0">
                <a:solidFill>
                  <a:srgbClr val="333333"/>
                </a:solidFill>
                <a:latin typeface="Arial"/>
              </a:rPr>
              <a:t>2. </a:t>
            </a:r>
            <a:r>
              <a:rPr lang="ko-KR" altLang="en-US" sz="900" b="1" dirty="0" smtClean="0">
                <a:solidFill>
                  <a:srgbClr val="333333"/>
                </a:solidFill>
                <a:latin typeface="Arial"/>
              </a:rPr>
              <a:t>단일 </a:t>
            </a:r>
            <a:r>
              <a:rPr lang="ko-KR" altLang="en-US" sz="900" b="1" dirty="0">
                <a:solidFill>
                  <a:srgbClr val="333333"/>
                </a:solidFill>
                <a:latin typeface="Arial"/>
              </a:rPr>
              <a:t>호출 병합 대비 정보 누락이 </a:t>
            </a:r>
            <a:r>
              <a:rPr lang="en-US" altLang="ko-KR" sz="900" b="1" dirty="0">
                <a:solidFill>
                  <a:srgbClr val="333333"/>
                </a:solidFill>
                <a:latin typeface="Arial"/>
              </a:rPr>
              <a:t>0</a:t>
            </a:r>
            <a:r>
              <a:rPr lang="ko-KR" altLang="en-US" sz="900" b="1" dirty="0">
                <a:solidFill>
                  <a:srgbClr val="333333"/>
                </a:solidFill>
                <a:latin typeface="Arial"/>
              </a:rPr>
              <a:t>건으로 </a:t>
            </a:r>
            <a:r>
              <a:rPr lang="ko-KR" altLang="en-US" sz="900" b="1" dirty="0" smtClean="0">
                <a:solidFill>
                  <a:srgbClr val="333333"/>
                </a:solidFill>
                <a:latin typeface="Arial"/>
              </a:rPr>
              <a:t>수렴</a:t>
            </a:r>
            <a:endParaRPr lang="en-US" altLang="ko-KR" sz="900" b="1" dirty="0" smtClean="0">
              <a:solidFill>
                <a:srgbClr val="333333"/>
              </a:solidFill>
              <a:latin typeface="Arial"/>
            </a:endParaRPr>
          </a:p>
          <a:p>
            <a:r>
              <a:rPr lang="en-US" altLang="ko-KR" sz="800" b="1" dirty="0" smtClean="0">
                <a:solidFill>
                  <a:srgbClr val="333333"/>
                </a:solidFill>
                <a:latin typeface="Arial"/>
              </a:rPr>
              <a:t/>
            </a:r>
            <a:br>
              <a:rPr lang="en-US" altLang="ko-KR" sz="800" b="1" dirty="0" smtClean="0">
                <a:solidFill>
                  <a:srgbClr val="333333"/>
                </a:solidFill>
                <a:latin typeface="Arial"/>
              </a:rPr>
            </a:br>
            <a:endParaRPr sz="900" b="1" dirty="0">
              <a:solidFill>
                <a:srgbClr val="333333"/>
              </a:solidFill>
              <a:latin typeface="Arial"/>
            </a:endParaRPr>
          </a:p>
          <a:p>
            <a:r>
              <a:rPr sz="900" b="1" dirty="0">
                <a:solidFill>
                  <a:srgbClr val="333333"/>
                </a:solidFill>
                <a:latin typeface="Arial"/>
              </a:rPr>
              <a:t>· </a:t>
            </a:r>
            <a:r>
              <a:rPr lang="en-US" sz="900" b="1" dirty="0">
                <a:solidFill>
                  <a:srgbClr val="333333"/>
                </a:solidFill>
                <a:latin typeface="Arial"/>
              </a:rPr>
              <a:t>D</a:t>
            </a:r>
            <a:r>
              <a:rPr sz="1050" b="1" dirty="0" smtClean="0">
                <a:solidFill>
                  <a:srgbClr val="333333"/>
                </a:solidFill>
                <a:latin typeface="Arial"/>
              </a:rPr>
              <a:t>ecompose </a:t>
            </a:r>
            <a:r>
              <a:rPr sz="1050" b="1" dirty="0" err="1">
                <a:solidFill>
                  <a:srgbClr val="333333"/>
                </a:solidFill>
                <a:latin typeface="Arial"/>
              </a:rPr>
              <a:t>도메인</a:t>
            </a:r>
            <a:r>
              <a:rPr sz="105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050" b="1" dirty="0" err="1">
                <a:solidFill>
                  <a:srgbClr val="333333"/>
                </a:solidFill>
                <a:latin typeface="Arial"/>
              </a:rPr>
              <a:t>분해</a:t>
            </a:r>
            <a:r>
              <a:rPr sz="105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050" b="1" dirty="0" err="1">
                <a:solidFill>
                  <a:srgbClr val="333333"/>
                </a:solidFill>
                <a:latin typeface="Arial"/>
              </a:rPr>
              <a:t>분기</a:t>
            </a:r>
            <a:endParaRPr sz="1050" b="1" dirty="0">
              <a:solidFill>
                <a:srgbClr val="333333"/>
              </a:solidFill>
              <a:latin typeface="Arial"/>
            </a:endParaRPr>
          </a:p>
          <a:p>
            <a:r>
              <a:rPr lang="en-US" altLang="ko-KR" sz="900" b="1" dirty="0" smtClean="0">
                <a:solidFill>
                  <a:srgbClr val="333333"/>
                </a:solidFill>
                <a:latin typeface="Arial"/>
              </a:rPr>
              <a:t>   1. </a:t>
            </a:r>
            <a:r>
              <a:rPr lang="ko-KR" altLang="en-US" sz="900" b="1" dirty="0" err="1" smtClean="0">
                <a:solidFill>
                  <a:srgbClr val="333333"/>
                </a:solidFill>
                <a:latin typeface="Arial"/>
              </a:rPr>
              <a:t>다도메인</a:t>
            </a:r>
            <a:r>
              <a:rPr lang="ko-KR" altLang="en-US" sz="900" b="1" dirty="0" smtClean="0">
                <a:solidFill>
                  <a:srgbClr val="333333"/>
                </a:solidFill>
                <a:latin typeface="Arial"/>
              </a:rPr>
              <a:t> </a:t>
            </a:r>
            <a:r>
              <a:rPr lang="ko-KR" altLang="en-US" sz="900" b="1" dirty="0">
                <a:solidFill>
                  <a:srgbClr val="333333"/>
                </a:solidFill>
                <a:latin typeface="Arial"/>
              </a:rPr>
              <a:t>문서를 </a:t>
            </a:r>
            <a:r>
              <a:rPr lang="en-US" altLang="ko-KR" sz="900" b="1" dirty="0">
                <a:solidFill>
                  <a:srgbClr val="333333"/>
                </a:solidFill>
                <a:latin typeface="Arial"/>
              </a:rPr>
              <a:t>LLM</a:t>
            </a:r>
            <a:r>
              <a:rPr lang="ko-KR" altLang="en-US" sz="900" b="1" dirty="0">
                <a:solidFill>
                  <a:srgbClr val="333333"/>
                </a:solidFill>
                <a:latin typeface="Arial"/>
              </a:rPr>
              <a:t>이 도메인 경계로 분해 </a:t>
            </a:r>
            <a:r>
              <a:rPr lang="en-US" altLang="ko-KR" sz="900" b="1" dirty="0">
                <a:solidFill>
                  <a:srgbClr val="333333"/>
                </a:solidFill>
                <a:latin typeface="Arial"/>
              </a:rPr>
              <a:t>— </a:t>
            </a:r>
            <a:r>
              <a:rPr lang="ko-KR" altLang="en-US" sz="900" b="1" dirty="0" err="1">
                <a:solidFill>
                  <a:srgbClr val="333333"/>
                </a:solidFill>
                <a:latin typeface="Arial"/>
              </a:rPr>
              <a:t>도메인별</a:t>
            </a:r>
            <a:r>
              <a:rPr lang="ko-KR" altLang="en-US" sz="900"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ko-KR" altLang="en-US" sz="900" b="1" dirty="0" smtClean="0">
                <a:solidFill>
                  <a:srgbClr val="333333"/>
                </a:solidFill>
                <a:latin typeface="Arial"/>
              </a:rPr>
              <a:t>병렬로 처리</a:t>
            </a:r>
            <a:endParaRPr sz="900" b="1" dirty="0">
              <a:solidFill>
                <a:srgbClr val="333333"/>
              </a:solidFill>
              <a:latin typeface="Arial"/>
            </a:endParaRPr>
          </a:p>
          <a:p>
            <a:r>
              <a:rPr sz="900" b="1" dirty="0">
                <a:solidFill>
                  <a:srgbClr val="333333"/>
                </a:solidFill>
                <a:latin typeface="Arial"/>
              </a:rPr>
              <a:t>  </a:t>
            </a:r>
            <a:r>
              <a:rPr lang="en-US" sz="900" b="1" dirty="0" smtClean="0">
                <a:solidFill>
                  <a:srgbClr val="333333"/>
                </a:solidFill>
                <a:latin typeface="Arial"/>
              </a:rPr>
              <a:t> 2. </a:t>
            </a:r>
            <a:r>
              <a:rPr lang="ko-KR" altLang="en-US" sz="900" b="1" dirty="0" smtClean="0">
                <a:solidFill>
                  <a:srgbClr val="333333"/>
                </a:solidFill>
                <a:latin typeface="Arial"/>
              </a:rPr>
              <a:t>단일 </a:t>
            </a:r>
            <a:r>
              <a:rPr lang="ko-KR" altLang="en-US" sz="900" b="1" dirty="0">
                <a:solidFill>
                  <a:srgbClr val="333333"/>
                </a:solidFill>
                <a:latin typeface="Arial"/>
              </a:rPr>
              <a:t>페이지 통합 방식 대비 도메인 검색</a:t>
            </a:r>
            <a:r>
              <a:rPr lang="en-US" altLang="ko-KR" sz="900" b="1" dirty="0">
                <a:solidFill>
                  <a:srgbClr val="333333"/>
                </a:solidFill>
                <a:latin typeface="Arial"/>
              </a:rPr>
              <a:t>·</a:t>
            </a:r>
            <a:r>
              <a:rPr lang="ko-KR" altLang="en-US" sz="900" b="1" dirty="0">
                <a:solidFill>
                  <a:srgbClr val="333333"/>
                </a:solidFill>
                <a:latin typeface="Arial"/>
              </a:rPr>
              <a:t>재사용 정밀도 </a:t>
            </a:r>
            <a:r>
              <a:rPr lang="ko-KR" altLang="en-US" sz="900" b="1" dirty="0" smtClean="0">
                <a:solidFill>
                  <a:srgbClr val="333333"/>
                </a:solidFill>
                <a:latin typeface="Arial"/>
              </a:rPr>
              <a:t>향상</a:t>
            </a:r>
            <a:endParaRPr lang="en-US" altLang="ko-KR" sz="900" b="1" dirty="0" smtClean="0">
              <a:solidFill>
                <a:srgbClr val="333333"/>
              </a:solidFill>
              <a:latin typeface="Arial"/>
            </a:endParaRPr>
          </a:p>
          <a:p>
            <a:r>
              <a:rPr lang="en-US" altLang="ko-KR" sz="800" b="1" dirty="0" smtClean="0">
                <a:solidFill>
                  <a:srgbClr val="333333"/>
                </a:solidFill>
                <a:latin typeface="Arial"/>
              </a:rPr>
              <a:t/>
            </a:r>
            <a:br>
              <a:rPr lang="en-US" altLang="ko-KR" sz="800" b="1" dirty="0" smtClean="0">
                <a:solidFill>
                  <a:srgbClr val="333333"/>
                </a:solidFill>
                <a:latin typeface="Arial"/>
              </a:rPr>
            </a:br>
            <a:endParaRPr sz="900" b="1" dirty="0">
              <a:solidFill>
                <a:srgbClr val="333333"/>
              </a:solidFill>
              <a:latin typeface="Arial"/>
            </a:endParaRPr>
          </a:p>
          <a:p>
            <a:r>
              <a:rPr sz="1050" b="1" dirty="0">
                <a:solidFill>
                  <a:srgbClr val="333333"/>
                </a:solidFill>
                <a:latin typeface="Arial"/>
              </a:rPr>
              <a:t>· </a:t>
            </a:r>
            <a:r>
              <a:rPr sz="1050" b="1" dirty="0" err="1">
                <a:solidFill>
                  <a:srgbClr val="333333"/>
                </a:solidFill>
                <a:latin typeface="Arial"/>
              </a:rPr>
              <a:t>벡터</a:t>
            </a:r>
            <a:r>
              <a:rPr sz="1050" b="1" dirty="0">
                <a:solidFill>
                  <a:srgbClr val="333333"/>
                </a:solidFill>
                <a:latin typeface="Arial"/>
              </a:rPr>
              <a:t> + LLM 2단계 </a:t>
            </a:r>
            <a:r>
              <a:rPr sz="1050" b="1" dirty="0" err="1">
                <a:solidFill>
                  <a:srgbClr val="333333"/>
                </a:solidFill>
                <a:latin typeface="Arial"/>
              </a:rPr>
              <a:t>동일성</a:t>
            </a:r>
            <a:r>
              <a:rPr sz="105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050" b="1" dirty="0" err="1">
                <a:solidFill>
                  <a:srgbClr val="333333"/>
                </a:solidFill>
                <a:latin typeface="Arial"/>
              </a:rPr>
              <a:t>판정</a:t>
            </a:r>
            <a:endParaRPr sz="1050" b="1" dirty="0">
              <a:solidFill>
                <a:srgbClr val="333333"/>
              </a:solidFill>
              <a:latin typeface="Arial"/>
            </a:endParaRPr>
          </a:p>
          <a:p>
            <a:r>
              <a:rPr lang="en-US" sz="900" b="1" dirty="0" smtClean="0">
                <a:solidFill>
                  <a:srgbClr val="333333"/>
                </a:solidFill>
                <a:latin typeface="Arial"/>
              </a:rPr>
              <a:t>   1. </a:t>
            </a:r>
            <a:r>
              <a:rPr lang="en-US" altLang="ko-KR" sz="900" b="1" dirty="0">
                <a:solidFill>
                  <a:srgbClr val="333333"/>
                </a:solidFill>
                <a:latin typeface="Arial"/>
              </a:rPr>
              <a:t>Chroma </a:t>
            </a:r>
            <a:r>
              <a:rPr lang="ko-KR" altLang="en-US" sz="900" b="1" dirty="0">
                <a:solidFill>
                  <a:srgbClr val="333333"/>
                </a:solidFill>
                <a:latin typeface="Arial"/>
              </a:rPr>
              <a:t>거리 게이트로 후보를 추출 </a:t>
            </a:r>
            <a:r>
              <a:rPr lang="en-US" altLang="ko-KR" sz="900" b="1" dirty="0">
                <a:solidFill>
                  <a:srgbClr val="333333"/>
                </a:solidFill>
                <a:latin typeface="Arial"/>
              </a:rPr>
              <a:t>— LLM judge </a:t>
            </a:r>
            <a:r>
              <a:rPr lang="ko-KR" altLang="en-US" sz="900" b="1" dirty="0">
                <a:solidFill>
                  <a:srgbClr val="333333"/>
                </a:solidFill>
                <a:latin typeface="Arial"/>
              </a:rPr>
              <a:t>가 </a:t>
            </a:r>
            <a:r>
              <a:rPr lang="ko-KR" altLang="en-US" sz="900" b="1" dirty="0" smtClean="0">
                <a:solidFill>
                  <a:srgbClr val="333333"/>
                </a:solidFill>
                <a:latin typeface="Arial"/>
              </a:rPr>
              <a:t>의미적 동일성을 </a:t>
            </a:r>
            <a:r>
              <a:rPr lang="en-US" altLang="ko-KR" sz="900" b="1" dirty="0" smtClean="0">
                <a:solidFill>
                  <a:srgbClr val="333333"/>
                </a:solidFill>
                <a:latin typeface="Arial"/>
              </a:rPr>
              <a:t/>
            </a:r>
            <a:br>
              <a:rPr lang="en-US" altLang="ko-KR" sz="900" b="1" dirty="0" smtClean="0">
                <a:solidFill>
                  <a:srgbClr val="333333"/>
                </a:solidFill>
                <a:latin typeface="Arial"/>
              </a:rPr>
            </a:br>
            <a:r>
              <a:rPr lang="en-US" altLang="ko-KR" sz="900" b="1" dirty="0" smtClean="0">
                <a:solidFill>
                  <a:srgbClr val="333333"/>
                </a:solidFill>
                <a:latin typeface="Arial"/>
              </a:rPr>
              <a:t>       </a:t>
            </a:r>
            <a:r>
              <a:rPr lang="ko-KR" altLang="en-US" sz="900" b="1" dirty="0" smtClean="0">
                <a:solidFill>
                  <a:srgbClr val="333333"/>
                </a:solidFill>
                <a:latin typeface="Arial"/>
              </a:rPr>
              <a:t>재판정</a:t>
            </a:r>
            <a:r>
              <a:rPr sz="900" b="1" dirty="0" smtClean="0">
                <a:solidFill>
                  <a:srgbClr val="333333"/>
                </a:solidFill>
                <a:latin typeface="Arial"/>
              </a:rPr>
              <a:t>  </a:t>
            </a:r>
            <a:r>
              <a:rPr lang="en-US" sz="900" b="1" dirty="0" smtClean="0">
                <a:solidFill>
                  <a:srgbClr val="333333"/>
                </a:solidFill>
                <a:latin typeface="Arial"/>
              </a:rPr>
              <a:t/>
            </a:r>
            <a:br>
              <a:rPr lang="en-US" sz="900" b="1" dirty="0" smtClean="0">
                <a:solidFill>
                  <a:srgbClr val="333333"/>
                </a:solidFill>
                <a:latin typeface="Arial"/>
              </a:rPr>
            </a:br>
            <a:r>
              <a:rPr lang="en-US" sz="900" b="1" dirty="0" smtClean="0">
                <a:solidFill>
                  <a:srgbClr val="333333"/>
                </a:solidFill>
                <a:latin typeface="Arial"/>
              </a:rPr>
              <a:t>   2. </a:t>
            </a:r>
            <a:r>
              <a:rPr lang="ko-KR" altLang="en-US" sz="900" b="1" dirty="0" smtClean="0">
                <a:solidFill>
                  <a:srgbClr val="333333"/>
                </a:solidFill>
                <a:latin typeface="Arial"/>
              </a:rPr>
              <a:t>단</a:t>
            </a:r>
            <a:r>
              <a:rPr lang="ko-KR" altLang="en-US" sz="900" b="1" dirty="0" smtClean="0">
                <a:solidFill>
                  <a:srgbClr val="333333"/>
                </a:solidFill>
                <a:latin typeface="Arial"/>
              </a:rPr>
              <a:t>일 </a:t>
            </a:r>
            <a:r>
              <a:rPr lang="ko-KR" altLang="en-US" sz="900" b="1" dirty="0">
                <a:solidFill>
                  <a:srgbClr val="333333"/>
                </a:solidFill>
                <a:latin typeface="Arial"/>
              </a:rPr>
              <a:t>거리 </a:t>
            </a:r>
            <a:r>
              <a:rPr lang="ko-KR" altLang="en-US" sz="900" b="1" dirty="0" err="1">
                <a:solidFill>
                  <a:srgbClr val="333333"/>
                </a:solidFill>
                <a:latin typeface="Arial"/>
              </a:rPr>
              <a:t>임계값</a:t>
            </a:r>
            <a:r>
              <a:rPr lang="ko-KR" altLang="en-US" sz="900" b="1" dirty="0">
                <a:solidFill>
                  <a:srgbClr val="333333"/>
                </a:solidFill>
                <a:latin typeface="Arial"/>
              </a:rPr>
              <a:t> 방식 대비 </a:t>
            </a:r>
            <a:r>
              <a:rPr lang="en-US" altLang="ko-KR" sz="900" b="1" dirty="0">
                <a:solidFill>
                  <a:srgbClr val="333333"/>
                </a:solidFill>
                <a:latin typeface="Arial"/>
              </a:rPr>
              <a:t>false-positive </a:t>
            </a:r>
            <a:r>
              <a:rPr lang="ko-KR" altLang="en-US" sz="900" b="1" dirty="0">
                <a:solidFill>
                  <a:srgbClr val="333333"/>
                </a:solidFill>
                <a:latin typeface="Arial"/>
              </a:rPr>
              <a:t>합병이 </a:t>
            </a:r>
            <a:r>
              <a:rPr lang="en-US" altLang="ko-KR" sz="900" b="1" dirty="0">
                <a:solidFill>
                  <a:srgbClr val="333333"/>
                </a:solidFill>
                <a:latin typeface="Arial"/>
              </a:rPr>
              <a:t>0</a:t>
            </a:r>
            <a:r>
              <a:rPr lang="ko-KR" altLang="en-US" sz="900" b="1" dirty="0">
                <a:solidFill>
                  <a:srgbClr val="333333"/>
                </a:solidFill>
                <a:latin typeface="Arial"/>
              </a:rPr>
              <a:t>건으로 </a:t>
            </a:r>
            <a:r>
              <a:rPr lang="ko-KR" altLang="en-US" sz="900" b="1" dirty="0" smtClean="0">
                <a:solidFill>
                  <a:srgbClr val="333333"/>
                </a:solidFill>
                <a:latin typeface="Arial"/>
              </a:rPr>
              <a:t>수렴</a:t>
            </a:r>
            <a:endParaRPr sz="900" b="1" dirty="0">
              <a:solidFill>
                <a:srgbClr val="333333"/>
              </a:solidFill>
              <a:latin typeface="Arial"/>
            </a:endParaRP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42F27494-48CC-B67F-5091-7461D87EE359}"/>
              </a:ext>
            </a:extLst>
          </p:cNvPr>
          <p:cNvGrpSpPr/>
          <p:nvPr/>
        </p:nvGrpSpPr>
        <p:grpSpPr>
          <a:xfrm>
            <a:off x="5058229" y="1764792"/>
            <a:ext cx="3829739" cy="3172968"/>
            <a:chOff x="4645152" y="1764792"/>
            <a:chExt cx="4242816" cy="3172968"/>
          </a:xfrm>
        </p:grpSpPr>
        <p:sp>
          <p:nvSpPr>
            <p:cNvPr id="16" name="Shape 14"/>
            <p:cNvSpPr/>
            <p:nvPr/>
          </p:nvSpPr>
          <p:spPr>
            <a:xfrm>
              <a:off x="4645152" y="1764792"/>
              <a:ext cx="4242816" cy="3172968"/>
            </a:xfrm>
            <a:prstGeom prst="rect">
              <a:avLst/>
            </a:prstGeom>
            <a:solidFill>
              <a:srgbClr val="F0FDFB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645152" y="1764792"/>
              <a:ext cx="54864" cy="3172968"/>
            </a:xfrm>
            <a:prstGeom prst="rect">
              <a:avLst/>
            </a:prstGeom>
            <a:solidFill>
              <a:srgbClr val="4ECDC4"/>
            </a:solidFill>
            <a:ln w="12700">
              <a:solidFill>
                <a:srgbClr val="4ECDC4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764024" y="1856232"/>
              <a:ext cx="4041648" cy="2468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3BB8B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결과 및 성과 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(</a:t>
              </a:r>
              <a:r>
                <a:rPr lang="en-US" sz="1000" b="1" dirty="0" err="1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수치로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ko-KR" alt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제시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)</a:t>
              </a:r>
              <a:endParaRPr lang="en-US" sz="10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4773168" y="2194560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828032" y="2194560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sz="1800" b="1" dirty="0">
                  <a:solidFill>
                    <a:srgbClr val="1A365D"/>
                  </a:solidFill>
                  <a:latin typeface="Arial"/>
                </a:rPr>
                <a:t>60배</a:t>
              </a:r>
              <a:endParaRPr lang="en-US" sz="1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96712" y="2373600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797296" y="2249424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sz="850" b="1" dirty="0" err="1">
                  <a:solidFill>
                    <a:srgbClr val="1A365D"/>
                  </a:solidFill>
                  <a:latin typeface="Arial"/>
                </a:rPr>
                <a:t>처리</a:t>
              </a:r>
              <a:r>
                <a:rPr sz="850" b="1" dirty="0">
                  <a:solidFill>
                    <a:srgbClr val="1A365D"/>
                  </a:solidFill>
                  <a:latin typeface="Arial"/>
                </a:rPr>
                <a:t> </a:t>
              </a:r>
              <a:r>
                <a:rPr sz="850" b="1" dirty="0" err="1">
                  <a:solidFill>
                    <a:srgbClr val="1A365D"/>
                  </a:solidFill>
                  <a:latin typeface="Arial"/>
                </a:rPr>
                <a:t>속도</a:t>
              </a:r>
              <a:endParaRPr lang="en-US" sz="850" dirty="0"/>
            </a:p>
            <a:p>
              <a:r>
                <a:rPr sz="850" b="1" dirty="0" err="1">
                  <a:solidFill>
                    <a:srgbClr val="1A365D"/>
                  </a:solidFill>
                  <a:latin typeface="Arial"/>
                </a:rPr>
                <a:t>수동</a:t>
              </a:r>
              <a:r>
                <a:rPr sz="850" b="1" dirty="0">
                  <a:solidFill>
                    <a:srgbClr val="1A365D"/>
                  </a:solidFill>
                  <a:latin typeface="Arial"/>
                </a:rPr>
                <a:t> ~30분 </a:t>
              </a:r>
              <a:r>
                <a:rPr lang="en-US" altLang="ko-KR" sz="850" b="1" dirty="0" smtClean="0">
                  <a:solidFill>
                    <a:srgbClr val="1A365D"/>
                  </a:solidFill>
                  <a:latin typeface="Arial"/>
                </a:rPr>
                <a:t>&gt;</a:t>
              </a:r>
              <a:r>
                <a:rPr sz="850" b="1" dirty="0" smtClean="0">
                  <a:solidFill>
                    <a:srgbClr val="1A365D"/>
                  </a:solidFill>
                  <a:latin typeface="Arial"/>
                </a:rPr>
                <a:t> </a:t>
              </a:r>
              <a:r>
                <a:rPr sz="850" b="1" dirty="0" err="1">
                  <a:solidFill>
                    <a:srgbClr val="1A365D"/>
                  </a:solidFill>
                  <a:latin typeface="Arial"/>
                </a:rPr>
                <a:t>자동</a:t>
              </a:r>
              <a:r>
                <a:rPr sz="850" b="1" dirty="0">
                  <a:solidFill>
                    <a:srgbClr val="1A365D"/>
                  </a:solidFill>
                  <a:latin typeface="Arial"/>
                </a:rPr>
                <a:t> ~30초/건</a:t>
              </a:r>
            </a:p>
          </p:txBody>
        </p:sp>
        <p:sp>
          <p:nvSpPr>
            <p:cNvPr id="23" name="Shape 21"/>
            <p:cNvSpPr/>
            <p:nvPr/>
          </p:nvSpPr>
          <p:spPr>
            <a:xfrm>
              <a:off x="4773168" y="3090672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8032" y="3090672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sz="1800" b="1" dirty="0">
                  <a:solidFill>
                    <a:srgbClr val="1A365D"/>
                  </a:solidFill>
                  <a:latin typeface="Arial"/>
                </a:rPr>
                <a:t>100%</a:t>
              </a:r>
              <a:endParaRPr lang="en-US" sz="18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96712" y="3269712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797296" y="3145536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sz="850" b="1" dirty="0" err="1">
                  <a:solidFill>
                    <a:srgbClr val="1A365D"/>
                  </a:solidFill>
                  <a:latin typeface="Arial"/>
                </a:rPr>
                <a:t>병합</a:t>
              </a:r>
              <a:r>
                <a:rPr sz="850" b="1" dirty="0">
                  <a:solidFill>
                    <a:srgbClr val="1A365D"/>
                  </a:solidFill>
                  <a:latin typeface="Arial"/>
                </a:rPr>
                <a:t> </a:t>
              </a:r>
              <a:r>
                <a:rPr sz="850" b="1" dirty="0" err="1">
                  <a:solidFill>
                    <a:srgbClr val="1A365D"/>
                  </a:solidFill>
                  <a:latin typeface="Arial"/>
                </a:rPr>
                <a:t>커버리지</a:t>
              </a:r>
              <a:endParaRPr lang="en-US" sz="850" dirty="0"/>
            </a:p>
            <a:p>
              <a:r>
                <a:rPr sz="850" b="1" dirty="0">
                  <a:solidFill>
                    <a:srgbClr val="1A365D"/>
                  </a:solidFill>
                  <a:latin typeface="Arial"/>
                </a:rPr>
                <a:t>verify </a:t>
              </a:r>
              <a:r>
                <a:rPr lang="en-US" sz="850" b="1" dirty="0" smtClean="0">
                  <a:solidFill>
                    <a:srgbClr val="1A365D"/>
                  </a:solidFill>
                  <a:latin typeface="Arial"/>
                </a:rPr>
                <a:t>&amp; </a:t>
              </a:r>
              <a:r>
                <a:rPr sz="850" b="1" dirty="0" smtClean="0">
                  <a:solidFill>
                    <a:srgbClr val="1A365D"/>
                  </a:solidFill>
                  <a:latin typeface="Arial"/>
                </a:rPr>
                <a:t>merge </a:t>
              </a:r>
              <a:r>
                <a:rPr sz="850" b="1" dirty="0" err="1">
                  <a:solidFill>
                    <a:srgbClr val="1A365D"/>
                  </a:solidFill>
                  <a:latin typeface="Arial"/>
                </a:rPr>
                <a:t>재시도</a:t>
              </a:r>
              <a:endParaRPr sz="850" b="1" dirty="0">
                <a:solidFill>
                  <a:srgbClr val="1A365D"/>
                </a:solidFill>
                <a:latin typeface="Arial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4782313" y="3986784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4828032" y="3986784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sz="1800" b="1">
                  <a:solidFill>
                    <a:srgbClr val="1A365D"/>
                  </a:solidFill>
                  <a:latin typeface="Arial"/>
                </a:rPr>
                <a:t>0건</a:t>
              </a:r>
              <a:endParaRPr lang="en-US" sz="18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696712" y="4165824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797296" y="4041648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sz="850" b="1" dirty="0" err="1">
                  <a:solidFill>
                    <a:srgbClr val="1A365D"/>
                  </a:solidFill>
                  <a:latin typeface="Arial"/>
                </a:rPr>
                <a:t>중복</a:t>
              </a:r>
              <a:r>
                <a:rPr sz="850" b="1" dirty="0">
                  <a:solidFill>
                    <a:srgbClr val="1A365D"/>
                  </a:solidFill>
                  <a:latin typeface="Arial"/>
                </a:rPr>
                <a:t> false-positive</a:t>
              </a:r>
              <a:endParaRPr lang="en-US" sz="850" dirty="0"/>
            </a:p>
            <a:p>
              <a:r>
                <a:rPr sz="850" b="1" dirty="0" err="1">
                  <a:solidFill>
                    <a:srgbClr val="1A365D"/>
                  </a:solidFill>
                  <a:latin typeface="Arial"/>
                </a:rPr>
                <a:t>벡터</a:t>
              </a:r>
              <a:r>
                <a:rPr sz="850" b="1" dirty="0">
                  <a:solidFill>
                    <a:srgbClr val="1A365D"/>
                  </a:solidFill>
                  <a:latin typeface="Arial"/>
                </a:rPr>
                <a:t> + LLM 2단계 </a:t>
              </a:r>
              <a:r>
                <a:rPr sz="850" b="1" dirty="0" err="1">
                  <a:solidFill>
                    <a:srgbClr val="1A365D"/>
                  </a:solidFill>
                  <a:latin typeface="Arial"/>
                </a:rPr>
                <a:t>판정</a:t>
              </a:r>
              <a:endParaRPr sz="850" b="1" dirty="0">
                <a:solidFill>
                  <a:srgbClr val="1A365D"/>
                </a:solidFill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smtClean="0"/>
              <a:t>ERP System KPI </a:t>
            </a:r>
            <a:r>
              <a:rPr lang="ko-KR" altLang="en-US" sz="2200" b="1" dirty="0" smtClean="0"/>
              <a:t>지표 관리</a:t>
            </a:r>
            <a:endParaRPr lang="en-US" sz="2200" b="1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pic>
        <p:nvPicPr>
          <p:cNvPr id="31" name="그림 30"/>
          <p:cNvPicPr>
            <a:picLocks noChangeAspect="1"/>
          </p:cNvPicPr>
          <p:nvPr/>
        </p:nvPicPr>
        <p:blipFill rotWithShape="1">
          <a:blip r:embed="rId3"/>
          <a:srcRect l="29231" t="21581" r="17564" b="4573"/>
          <a:stretch/>
        </p:blipFill>
        <p:spPr>
          <a:xfrm>
            <a:off x="733806" y="687325"/>
            <a:ext cx="7676388" cy="4194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721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1224</Words>
  <Application>Microsoft Office PowerPoint</Application>
  <PresentationFormat>화면 슬라이드 쇼(16:9)</PresentationFormat>
  <Paragraphs>108</Paragraphs>
  <Slides>5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Master Project 발표 자료 템플릿 v1.0</dc:title>
  <dc:subject>PptxGenJS Presentation</dc:subject>
  <dc:creator>PptxGenJS</dc:creator>
  <cp:lastModifiedBy>Windows 사용자</cp:lastModifiedBy>
  <cp:revision>8</cp:revision>
  <dcterms:created xsi:type="dcterms:W3CDTF">2026-03-16T07:29:48Z</dcterms:created>
  <dcterms:modified xsi:type="dcterms:W3CDTF">2026-05-28T12:53:53Z</dcterms:modified>
</cp:coreProperties>
</file>